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7" r:id="rId1"/>
  </p:sldMasterIdLst>
  <p:sldIdLst>
    <p:sldId id="256" r:id="rId2"/>
    <p:sldId id="257" r:id="rId3"/>
    <p:sldId id="438" r:id="rId4"/>
    <p:sldId id="439" r:id="rId5"/>
    <p:sldId id="440" r:id="rId6"/>
    <p:sldId id="441" r:id="rId7"/>
    <p:sldId id="442" r:id="rId8"/>
    <p:sldId id="443" r:id="rId9"/>
    <p:sldId id="349" r:id="rId10"/>
    <p:sldId id="350" r:id="rId11"/>
    <p:sldId id="392" r:id="rId12"/>
    <p:sldId id="393" r:id="rId13"/>
    <p:sldId id="394" r:id="rId14"/>
    <p:sldId id="396" r:id="rId15"/>
    <p:sldId id="395" r:id="rId16"/>
    <p:sldId id="397" r:id="rId17"/>
    <p:sldId id="398" r:id="rId18"/>
    <p:sldId id="399" r:id="rId19"/>
    <p:sldId id="406" r:id="rId20"/>
    <p:sldId id="400" r:id="rId21"/>
    <p:sldId id="401" r:id="rId22"/>
    <p:sldId id="402" r:id="rId23"/>
    <p:sldId id="403" r:id="rId24"/>
    <p:sldId id="404" r:id="rId25"/>
    <p:sldId id="405" r:id="rId26"/>
    <p:sldId id="407" r:id="rId27"/>
    <p:sldId id="408" r:id="rId28"/>
    <p:sldId id="410" r:id="rId29"/>
    <p:sldId id="409" r:id="rId30"/>
    <p:sldId id="411" r:id="rId31"/>
  </p:sldIdLst>
  <p:sldSz cx="1227138" cy="942975"/>
  <p:notesSz cx="6858000" cy="9144000"/>
  <p:defaultTextStyle>
    <a:defPPr>
      <a:defRPr lang="es-ES"/>
    </a:defPPr>
    <a:lvl1pPr marL="0" algn="l" defTabSz="104150" rtl="0" eaLnBrk="1" latinLnBrk="0" hangingPunct="1">
      <a:defRPr sz="205" kern="1200">
        <a:solidFill>
          <a:schemeClr val="tx1"/>
        </a:solidFill>
        <a:latin typeface="+mn-lt"/>
        <a:ea typeface="+mn-ea"/>
        <a:cs typeface="+mn-cs"/>
      </a:defRPr>
    </a:lvl1pPr>
    <a:lvl2pPr marL="52075" algn="l" defTabSz="104150" rtl="0" eaLnBrk="1" latinLnBrk="0" hangingPunct="1">
      <a:defRPr sz="205" kern="1200">
        <a:solidFill>
          <a:schemeClr val="tx1"/>
        </a:solidFill>
        <a:latin typeface="+mn-lt"/>
        <a:ea typeface="+mn-ea"/>
        <a:cs typeface="+mn-cs"/>
      </a:defRPr>
    </a:lvl2pPr>
    <a:lvl3pPr marL="104150" algn="l" defTabSz="104150" rtl="0" eaLnBrk="1" latinLnBrk="0" hangingPunct="1">
      <a:defRPr sz="205" kern="1200">
        <a:solidFill>
          <a:schemeClr val="tx1"/>
        </a:solidFill>
        <a:latin typeface="+mn-lt"/>
        <a:ea typeface="+mn-ea"/>
        <a:cs typeface="+mn-cs"/>
      </a:defRPr>
    </a:lvl3pPr>
    <a:lvl4pPr marL="156225" algn="l" defTabSz="104150" rtl="0" eaLnBrk="1" latinLnBrk="0" hangingPunct="1">
      <a:defRPr sz="205" kern="1200">
        <a:solidFill>
          <a:schemeClr val="tx1"/>
        </a:solidFill>
        <a:latin typeface="+mn-lt"/>
        <a:ea typeface="+mn-ea"/>
        <a:cs typeface="+mn-cs"/>
      </a:defRPr>
    </a:lvl4pPr>
    <a:lvl5pPr marL="208300" algn="l" defTabSz="104150" rtl="0" eaLnBrk="1" latinLnBrk="0" hangingPunct="1">
      <a:defRPr sz="205" kern="1200">
        <a:solidFill>
          <a:schemeClr val="tx1"/>
        </a:solidFill>
        <a:latin typeface="+mn-lt"/>
        <a:ea typeface="+mn-ea"/>
        <a:cs typeface="+mn-cs"/>
      </a:defRPr>
    </a:lvl5pPr>
    <a:lvl6pPr marL="260375" algn="l" defTabSz="104150" rtl="0" eaLnBrk="1" latinLnBrk="0" hangingPunct="1">
      <a:defRPr sz="205" kern="1200">
        <a:solidFill>
          <a:schemeClr val="tx1"/>
        </a:solidFill>
        <a:latin typeface="+mn-lt"/>
        <a:ea typeface="+mn-ea"/>
        <a:cs typeface="+mn-cs"/>
      </a:defRPr>
    </a:lvl6pPr>
    <a:lvl7pPr marL="312450" algn="l" defTabSz="104150" rtl="0" eaLnBrk="1" latinLnBrk="0" hangingPunct="1">
      <a:defRPr sz="205" kern="1200">
        <a:solidFill>
          <a:schemeClr val="tx1"/>
        </a:solidFill>
        <a:latin typeface="+mn-lt"/>
        <a:ea typeface="+mn-ea"/>
        <a:cs typeface="+mn-cs"/>
      </a:defRPr>
    </a:lvl7pPr>
    <a:lvl8pPr marL="364526" algn="l" defTabSz="104150" rtl="0" eaLnBrk="1" latinLnBrk="0" hangingPunct="1">
      <a:defRPr sz="205" kern="1200">
        <a:solidFill>
          <a:schemeClr val="tx1"/>
        </a:solidFill>
        <a:latin typeface="+mn-lt"/>
        <a:ea typeface="+mn-ea"/>
        <a:cs typeface="+mn-cs"/>
      </a:defRPr>
    </a:lvl8pPr>
    <a:lvl9pPr marL="416601" algn="l" defTabSz="104150" rtl="0" eaLnBrk="1" latinLnBrk="0" hangingPunct="1">
      <a:defRPr sz="205"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
          <p15:clr>
            <a:srgbClr val="A4A3A4"/>
          </p15:clr>
        </p15:guide>
        <p15:guide id="2" pos="38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132" autoAdjust="0"/>
    <p:restoredTop sz="94660"/>
  </p:normalViewPr>
  <p:slideViewPr>
    <p:cSldViewPr snapToGrid="0">
      <p:cViewPr varScale="1">
        <p:scale>
          <a:sx n="400" d="100"/>
          <a:sy n="400" d="100"/>
        </p:scale>
        <p:origin x="3702" y="1272"/>
      </p:cViewPr>
      <p:guideLst>
        <p:guide orient="horz" pos="297"/>
        <p:guide pos="38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3392" y="154325"/>
            <a:ext cx="920354" cy="328295"/>
          </a:xfrm>
        </p:spPr>
        <p:txBody>
          <a:bodyPr anchor="b"/>
          <a:lstStyle>
            <a:lvl1pPr algn="ctr">
              <a:defRPr sz="604"/>
            </a:lvl1pPr>
          </a:lstStyle>
          <a:p>
            <a:r>
              <a:rPr lang="es-ES"/>
              <a:t>Haga clic para modificar el estilo de título del patrón</a:t>
            </a:r>
          </a:p>
        </p:txBody>
      </p:sp>
      <p:sp>
        <p:nvSpPr>
          <p:cNvPr id="3" name="Subtítulo 2"/>
          <p:cNvSpPr>
            <a:spLocks noGrp="1"/>
          </p:cNvSpPr>
          <p:nvPr>
            <p:ph type="subTitle" idx="1"/>
          </p:nvPr>
        </p:nvSpPr>
        <p:spPr>
          <a:xfrm>
            <a:off x="153392" y="495280"/>
            <a:ext cx="920354" cy="227667"/>
          </a:xfrm>
        </p:spPr>
        <p:txBody>
          <a:bodyPr/>
          <a:lstStyle>
            <a:lvl1pPr marL="0" indent="0" algn="ctr">
              <a:buNone/>
              <a:defRPr sz="242"/>
            </a:lvl1pPr>
            <a:lvl2pPr marL="46040" indent="0" algn="ctr">
              <a:buNone/>
              <a:defRPr sz="201"/>
            </a:lvl2pPr>
            <a:lvl3pPr marL="92080" indent="0" algn="ctr">
              <a:buNone/>
              <a:defRPr sz="181"/>
            </a:lvl3pPr>
            <a:lvl4pPr marL="138120" indent="0" algn="ctr">
              <a:buNone/>
              <a:defRPr sz="161"/>
            </a:lvl4pPr>
            <a:lvl5pPr marL="184160" indent="0" algn="ctr">
              <a:buNone/>
              <a:defRPr sz="161"/>
            </a:lvl5pPr>
            <a:lvl6pPr marL="230200" indent="0" algn="ctr">
              <a:buNone/>
              <a:defRPr sz="161"/>
            </a:lvl6pPr>
            <a:lvl7pPr marL="276240" indent="0" algn="ctr">
              <a:buNone/>
              <a:defRPr sz="161"/>
            </a:lvl7pPr>
            <a:lvl8pPr marL="322280" indent="0" algn="ctr">
              <a:buNone/>
              <a:defRPr sz="161"/>
            </a:lvl8pPr>
            <a:lvl9pPr marL="368320" indent="0" algn="ctr">
              <a:buNone/>
              <a:defRPr sz="161"/>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43423557-295D-4D7D-BCAD-2C3E301925A2}" type="datetimeFigureOut">
              <a:rPr lang="es-ES" smtClean="0"/>
              <a:t>12/08/2026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68C032A-E09D-4C11-8805-4A136CE46688}" type="slidenum">
              <a:rPr lang="es-ES" smtClean="0"/>
              <a:t>‹Nº›</a:t>
            </a:fld>
            <a:endParaRPr lang="es-ES"/>
          </a:p>
        </p:txBody>
      </p:sp>
    </p:spTree>
    <p:extLst>
      <p:ext uri="{BB962C8B-B14F-4D97-AF65-F5344CB8AC3E}">
        <p14:creationId xmlns:p14="http://schemas.microsoft.com/office/powerpoint/2010/main" val="1193044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3423557-295D-4D7D-BCAD-2C3E301925A2}" type="datetimeFigureOut">
              <a:rPr lang="es-ES" smtClean="0"/>
              <a:t>12/08/2026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68C032A-E09D-4C11-8805-4A136CE46688}" type="slidenum">
              <a:rPr lang="es-ES" smtClean="0"/>
              <a:t>‹Nº›</a:t>
            </a:fld>
            <a:endParaRPr lang="es-ES"/>
          </a:p>
        </p:txBody>
      </p:sp>
    </p:spTree>
    <p:extLst>
      <p:ext uri="{BB962C8B-B14F-4D97-AF65-F5344CB8AC3E}">
        <p14:creationId xmlns:p14="http://schemas.microsoft.com/office/powerpoint/2010/main" val="1456759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726" y="235089"/>
            <a:ext cx="1058407" cy="392251"/>
          </a:xfrm>
        </p:spPr>
        <p:txBody>
          <a:bodyPr anchor="b"/>
          <a:lstStyle>
            <a:lvl1pPr>
              <a:defRPr sz="604"/>
            </a:lvl1pPr>
          </a:lstStyle>
          <a:p>
            <a:r>
              <a:rPr lang="es-ES"/>
              <a:t>Haga clic para modificar el estilo de título del patrón</a:t>
            </a:r>
          </a:p>
        </p:txBody>
      </p:sp>
      <p:sp>
        <p:nvSpPr>
          <p:cNvPr id="3" name="Marcador de texto 2"/>
          <p:cNvSpPr>
            <a:spLocks noGrp="1"/>
          </p:cNvSpPr>
          <p:nvPr>
            <p:ph type="body" idx="1"/>
          </p:nvPr>
        </p:nvSpPr>
        <p:spPr>
          <a:xfrm>
            <a:off x="83726" y="631051"/>
            <a:ext cx="1058407" cy="206276"/>
          </a:xfrm>
        </p:spPr>
        <p:txBody>
          <a:bodyPr/>
          <a:lstStyle>
            <a:lvl1pPr marL="0" indent="0">
              <a:buNone/>
              <a:defRPr sz="242">
                <a:solidFill>
                  <a:schemeClr val="tx1">
                    <a:tint val="75000"/>
                  </a:schemeClr>
                </a:solidFill>
              </a:defRPr>
            </a:lvl1pPr>
            <a:lvl2pPr marL="46040" indent="0">
              <a:buNone/>
              <a:defRPr sz="201">
                <a:solidFill>
                  <a:schemeClr val="tx1">
                    <a:tint val="75000"/>
                  </a:schemeClr>
                </a:solidFill>
              </a:defRPr>
            </a:lvl2pPr>
            <a:lvl3pPr marL="92080" indent="0">
              <a:buNone/>
              <a:defRPr sz="181">
                <a:solidFill>
                  <a:schemeClr val="tx1">
                    <a:tint val="75000"/>
                  </a:schemeClr>
                </a:solidFill>
              </a:defRPr>
            </a:lvl3pPr>
            <a:lvl4pPr marL="138120" indent="0">
              <a:buNone/>
              <a:defRPr sz="161">
                <a:solidFill>
                  <a:schemeClr val="tx1">
                    <a:tint val="75000"/>
                  </a:schemeClr>
                </a:solidFill>
              </a:defRPr>
            </a:lvl4pPr>
            <a:lvl5pPr marL="184160" indent="0">
              <a:buNone/>
              <a:defRPr sz="161">
                <a:solidFill>
                  <a:schemeClr val="tx1">
                    <a:tint val="75000"/>
                  </a:schemeClr>
                </a:solidFill>
              </a:defRPr>
            </a:lvl5pPr>
            <a:lvl6pPr marL="230200" indent="0">
              <a:buNone/>
              <a:defRPr sz="161">
                <a:solidFill>
                  <a:schemeClr val="tx1">
                    <a:tint val="75000"/>
                  </a:schemeClr>
                </a:solidFill>
              </a:defRPr>
            </a:lvl6pPr>
            <a:lvl7pPr marL="276240" indent="0">
              <a:buNone/>
              <a:defRPr sz="161">
                <a:solidFill>
                  <a:schemeClr val="tx1">
                    <a:tint val="75000"/>
                  </a:schemeClr>
                </a:solidFill>
              </a:defRPr>
            </a:lvl7pPr>
            <a:lvl8pPr marL="322280" indent="0">
              <a:buNone/>
              <a:defRPr sz="161">
                <a:solidFill>
                  <a:schemeClr val="tx1">
                    <a:tint val="75000"/>
                  </a:schemeClr>
                </a:solidFill>
              </a:defRPr>
            </a:lvl8pPr>
            <a:lvl9pPr marL="368320" indent="0">
              <a:buNone/>
              <a:defRPr sz="161">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43423557-295D-4D7D-BCAD-2C3E301925A2}" type="datetimeFigureOut">
              <a:rPr lang="es-ES" smtClean="0"/>
              <a:t>12/08/2026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68C032A-E09D-4C11-8805-4A136CE46688}" type="slidenum">
              <a:rPr lang="es-ES" smtClean="0"/>
              <a:t>‹Nº›</a:t>
            </a:fld>
            <a:endParaRPr lang="es-ES"/>
          </a:p>
        </p:txBody>
      </p:sp>
    </p:spTree>
    <p:extLst>
      <p:ext uri="{BB962C8B-B14F-4D97-AF65-F5344CB8AC3E}">
        <p14:creationId xmlns:p14="http://schemas.microsoft.com/office/powerpoint/2010/main" val="4175649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4366" y="251023"/>
            <a:ext cx="521534" cy="598309"/>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21238" y="251023"/>
            <a:ext cx="521534" cy="598309"/>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3423557-295D-4D7D-BCAD-2C3E301925A2}" type="datetimeFigureOut">
              <a:rPr lang="es-ES" smtClean="0"/>
              <a:t>12/08/2026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868C032A-E09D-4C11-8805-4A136CE46688}" type="slidenum">
              <a:rPr lang="es-ES" smtClean="0"/>
              <a:t>‹Nº›</a:t>
            </a:fld>
            <a:endParaRPr lang="es-ES"/>
          </a:p>
        </p:txBody>
      </p:sp>
    </p:spTree>
    <p:extLst>
      <p:ext uri="{BB962C8B-B14F-4D97-AF65-F5344CB8AC3E}">
        <p14:creationId xmlns:p14="http://schemas.microsoft.com/office/powerpoint/2010/main" val="1871538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4525" y="50205"/>
            <a:ext cx="1058407" cy="182265"/>
          </a:xfrm>
        </p:spPr>
        <p:txBody>
          <a:bodyPr/>
          <a:lstStyle/>
          <a:p>
            <a:r>
              <a:rPr lang="es-ES"/>
              <a:t>Haga clic para modificar el estilo de título del patrón</a:t>
            </a:r>
          </a:p>
        </p:txBody>
      </p:sp>
      <p:sp>
        <p:nvSpPr>
          <p:cNvPr id="3" name="Marcador de texto 2"/>
          <p:cNvSpPr>
            <a:spLocks noGrp="1"/>
          </p:cNvSpPr>
          <p:nvPr>
            <p:ph type="body" idx="1"/>
          </p:nvPr>
        </p:nvSpPr>
        <p:spPr>
          <a:xfrm>
            <a:off x="84526" y="231160"/>
            <a:ext cx="519137" cy="113288"/>
          </a:xfrm>
        </p:spPr>
        <p:txBody>
          <a:bodyPr anchor="b"/>
          <a:lstStyle>
            <a:lvl1pPr marL="0" indent="0">
              <a:buNone/>
              <a:defRPr sz="242" b="1"/>
            </a:lvl1pPr>
            <a:lvl2pPr marL="46040" indent="0">
              <a:buNone/>
              <a:defRPr sz="201" b="1"/>
            </a:lvl2pPr>
            <a:lvl3pPr marL="92080" indent="0">
              <a:buNone/>
              <a:defRPr sz="181" b="1"/>
            </a:lvl3pPr>
            <a:lvl4pPr marL="138120" indent="0">
              <a:buNone/>
              <a:defRPr sz="161" b="1"/>
            </a:lvl4pPr>
            <a:lvl5pPr marL="184160" indent="0">
              <a:buNone/>
              <a:defRPr sz="161" b="1"/>
            </a:lvl5pPr>
            <a:lvl6pPr marL="230200" indent="0">
              <a:buNone/>
              <a:defRPr sz="161" b="1"/>
            </a:lvl6pPr>
            <a:lvl7pPr marL="276240" indent="0">
              <a:buNone/>
              <a:defRPr sz="161" b="1"/>
            </a:lvl7pPr>
            <a:lvl8pPr marL="322280" indent="0">
              <a:buNone/>
              <a:defRPr sz="161" b="1"/>
            </a:lvl8pPr>
            <a:lvl9pPr marL="368320" indent="0">
              <a:buNone/>
              <a:defRPr sz="161" b="1"/>
            </a:lvl9pPr>
          </a:lstStyle>
          <a:p>
            <a:pPr lvl="0"/>
            <a:r>
              <a:rPr lang="es-ES"/>
              <a:t>Editar el estilo de texto del patrón</a:t>
            </a:r>
          </a:p>
        </p:txBody>
      </p:sp>
      <p:sp>
        <p:nvSpPr>
          <p:cNvPr id="4" name="Marcador de contenido 3"/>
          <p:cNvSpPr>
            <a:spLocks noGrp="1"/>
          </p:cNvSpPr>
          <p:nvPr>
            <p:ph sz="half" idx="2"/>
          </p:nvPr>
        </p:nvSpPr>
        <p:spPr>
          <a:xfrm>
            <a:off x="84526" y="344448"/>
            <a:ext cx="519137" cy="506631"/>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21239" y="231160"/>
            <a:ext cx="521693" cy="113288"/>
          </a:xfrm>
        </p:spPr>
        <p:txBody>
          <a:bodyPr anchor="b"/>
          <a:lstStyle>
            <a:lvl1pPr marL="0" indent="0">
              <a:buNone/>
              <a:defRPr sz="242" b="1"/>
            </a:lvl1pPr>
            <a:lvl2pPr marL="46040" indent="0">
              <a:buNone/>
              <a:defRPr sz="201" b="1"/>
            </a:lvl2pPr>
            <a:lvl3pPr marL="92080" indent="0">
              <a:buNone/>
              <a:defRPr sz="181" b="1"/>
            </a:lvl3pPr>
            <a:lvl4pPr marL="138120" indent="0">
              <a:buNone/>
              <a:defRPr sz="161" b="1"/>
            </a:lvl4pPr>
            <a:lvl5pPr marL="184160" indent="0">
              <a:buNone/>
              <a:defRPr sz="161" b="1"/>
            </a:lvl5pPr>
            <a:lvl6pPr marL="230200" indent="0">
              <a:buNone/>
              <a:defRPr sz="161" b="1"/>
            </a:lvl6pPr>
            <a:lvl7pPr marL="276240" indent="0">
              <a:buNone/>
              <a:defRPr sz="161" b="1"/>
            </a:lvl7pPr>
            <a:lvl8pPr marL="322280" indent="0">
              <a:buNone/>
              <a:defRPr sz="161" b="1"/>
            </a:lvl8pPr>
            <a:lvl9pPr marL="368320" indent="0">
              <a:buNone/>
              <a:defRPr sz="161" b="1"/>
            </a:lvl9pPr>
          </a:lstStyle>
          <a:p>
            <a:pPr lvl="0"/>
            <a:r>
              <a:rPr lang="es-ES"/>
              <a:t>Editar el estilo de texto del patrón</a:t>
            </a:r>
          </a:p>
        </p:txBody>
      </p:sp>
      <p:sp>
        <p:nvSpPr>
          <p:cNvPr id="6" name="Marcador de contenido 5"/>
          <p:cNvSpPr>
            <a:spLocks noGrp="1"/>
          </p:cNvSpPr>
          <p:nvPr>
            <p:ph sz="quarter" idx="4"/>
          </p:nvPr>
        </p:nvSpPr>
        <p:spPr>
          <a:xfrm>
            <a:off x="621239" y="344448"/>
            <a:ext cx="521693" cy="506631"/>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3423557-295D-4D7D-BCAD-2C3E301925A2}" type="datetimeFigureOut">
              <a:rPr lang="es-ES" smtClean="0"/>
              <a:t>12/08/2026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868C032A-E09D-4C11-8805-4A136CE46688}" type="slidenum">
              <a:rPr lang="es-ES" smtClean="0"/>
              <a:t>‹Nº›</a:t>
            </a:fld>
            <a:endParaRPr lang="es-ES"/>
          </a:p>
        </p:txBody>
      </p:sp>
    </p:spTree>
    <p:extLst>
      <p:ext uri="{BB962C8B-B14F-4D97-AF65-F5344CB8AC3E}">
        <p14:creationId xmlns:p14="http://schemas.microsoft.com/office/powerpoint/2010/main" val="1646571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3423557-295D-4D7D-BCAD-2C3E301925A2}" type="datetimeFigureOut">
              <a:rPr lang="es-ES" smtClean="0"/>
              <a:t>12/08/2026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868C032A-E09D-4C11-8805-4A136CE46688}" type="slidenum">
              <a:rPr lang="es-ES" smtClean="0"/>
              <a:t>‹Nº›</a:t>
            </a:fld>
            <a:endParaRPr lang="es-ES"/>
          </a:p>
        </p:txBody>
      </p:sp>
    </p:spTree>
    <p:extLst>
      <p:ext uri="{BB962C8B-B14F-4D97-AF65-F5344CB8AC3E}">
        <p14:creationId xmlns:p14="http://schemas.microsoft.com/office/powerpoint/2010/main" val="493671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3423557-295D-4D7D-BCAD-2C3E301925A2}" type="datetimeFigureOut">
              <a:rPr lang="es-ES" smtClean="0"/>
              <a:t>12/08/2026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868C032A-E09D-4C11-8805-4A136CE46688}" type="slidenum">
              <a:rPr lang="es-ES" smtClean="0"/>
              <a:t>‹Nº›</a:t>
            </a:fld>
            <a:endParaRPr lang="es-ES"/>
          </a:p>
        </p:txBody>
      </p:sp>
    </p:spTree>
    <p:extLst>
      <p:ext uri="{BB962C8B-B14F-4D97-AF65-F5344CB8AC3E}">
        <p14:creationId xmlns:p14="http://schemas.microsoft.com/office/powerpoint/2010/main" val="2846586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4526" y="62865"/>
            <a:ext cx="395784" cy="220028"/>
          </a:xfrm>
        </p:spPr>
        <p:txBody>
          <a:bodyPr anchor="b"/>
          <a:lstStyle>
            <a:lvl1pPr>
              <a:defRPr sz="322"/>
            </a:lvl1pPr>
          </a:lstStyle>
          <a:p>
            <a:r>
              <a:rPr lang="es-ES"/>
              <a:t>Haga clic para modificar el estilo de título del patrón</a:t>
            </a:r>
          </a:p>
        </p:txBody>
      </p:sp>
      <p:sp>
        <p:nvSpPr>
          <p:cNvPr id="3" name="Marcador de contenido 2"/>
          <p:cNvSpPr>
            <a:spLocks noGrp="1"/>
          </p:cNvSpPr>
          <p:nvPr>
            <p:ph idx="1"/>
          </p:nvPr>
        </p:nvSpPr>
        <p:spPr>
          <a:xfrm>
            <a:off x="521693" y="135771"/>
            <a:ext cx="621239" cy="670123"/>
          </a:xfrm>
        </p:spPr>
        <p:txBody>
          <a:bodyPr/>
          <a:lstStyle>
            <a:lvl1pPr>
              <a:defRPr sz="322"/>
            </a:lvl1pPr>
            <a:lvl2pPr>
              <a:defRPr sz="282"/>
            </a:lvl2pPr>
            <a:lvl3pPr>
              <a:defRPr sz="242"/>
            </a:lvl3pPr>
            <a:lvl4pPr>
              <a:defRPr sz="201"/>
            </a:lvl4pPr>
            <a:lvl5pPr>
              <a:defRPr sz="201"/>
            </a:lvl5pPr>
            <a:lvl6pPr>
              <a:defRPr sz="201"/>
            </a:lvl6pPr>
            <a:lvl7pPr>
              <a:defRPr sz="201"/>
            </a:lvl7pPr>
            <a:lvl8pPr>
              <a:defRPr sz="201"/>
            </a:lvl8pPr>
            <a:lvl9pPr>
              <a:defRPr sz="201"/>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4526" y="282893"/>
            <a:ext cx="395784" cy="524093"/>
          </a:xfrm>
        </p:spPr>
        <p:txBody>
          <a:bodyPr/>
          <a:lstStyle>
            <a:lvl1pPr marL="0" indent="0">
              <a:buNone/>
              <a:defRPr sz="161"/>
            </a:lvl1pPr>
            <a:lvl2pPr marL="46040" indent="0">
              <a:buNone/>
              <a:defRPr sz="141"/>
            </a:lvl2pPr>
            <a:lvl3pPr marL="92080" indent="0">
              <a:buNone/>
              <a:defRPr sz="121"/>
            </a:lvl3pPr>
            <a:lvl4pPr marL="138120" indent="0">
              <a:buNone/>
              <a:defRPr sz="101"/>
            </a:lvl4pPr>
            <a:lvl5pPr marL="184160" indent="0">
              <a:buNone/>
              <a:defRPr sz="101"/>
            </a:lvl5pPr>
            <a:lvl6pPr marL="230200" indent="0">
              <a:buNone/>
              <a:defRPr sz="101"/>
            </a:lvl6pPr>
            <a:lvl7pPr marL="276240" indent="0">
              <a:buNone/>
              <a:defRPr sz="101"/>
            </a:lvl7pPr>
            <a:lvl8pPr marL="322280" indent="0">
              <a:buNone/>
              <a:defRPr sz="101"/>
            </a:lvl8pPr>
            <a:lvl9pPr marL="368320" indent="0">
              <a:buNone/>
              <a:defRPr sz="101"/>
            </a:lvl9pPr>
          </a:lstStyle>
          <a:p>
            <a:pPr lvl="0"/>
            <a:r>
              <a:rPr lang="es-ES"/>
              <a:t>Editar el estilo de texto del patrón</a:t>
            </a:r>
          </a:p>
        </p:txBody>
      </p:sp>
      <p:sp>
        <p:nvSpPr>
          <p:cNvPr id="5" name="Marcador de fecha 4"/>
          <p:cNvSpPr>
            <a:spLocks noGrp="1"/>
          </p:cNvSpPr>
          <p:nvPr>
            <p:ph type="dt" sz="half" idx="10"/>
          </p:nvPr>
        </p:nvSpPr>
        <p:spPr/>
        <p:txBody>
          <a:bodyPr/>
          <a:lstStyle/>
          <a:p>
            <a:fld id="{43423557-295D-4D7D-BCAD-2C3E301925A2}" type="datetimeFigureOut">
              <a:rPr lang="es-ES" smtClean="0"/>
              <a:t>12/08/2026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868C032A-E09D-4C11-8805-4A136CE46688}" type="slidenum">
              <a:rPr lang="es-ES" smtClean="0"/>
              <a:t>‹Nº›</a:t>
            </a:fld>
            <a:endParaRPr lang="es-ES"/>
          </a:p>
        </p:txBody>
      </p:sp>
    </p:spTree>
    <p:extLst>
      <p:ext uri="{BB962C8B-B14F-4D97-AF65-F5344CB8AC3E}">
        <p14:creationId xmlns:p14="http://schemas.microsoft.com/office/powerpoint/2010/main" val="2313039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4526" y="62865"/>
            <a:ext cx="395784" cy="220028"/>
          </a:xfrm>
        </p:spPr>
        <p:txBody>
          <a:bodyPr anchor="b"/>
          <a:lstStyle>
            <a:lvl1pPr>
              <a:defRPr sz="322"/>
            </a:lvl1pPr>
          </a:lstStyle>
          <a:p>
            <a:r>
              <a:rPr lang="es-ES"/>
              <a:t>Haga clic para modificar el estilo de título del patrón</a:t>
            </a:r>
          </a:p>
        </p:txBody>
      </p:sp>
      <p:sp>
        <p:nvSpPr>
          <p:cNvPr id="3" name="Marcador de posición de imagen 2"/>
          <p:cNvSpPr>
            <a:spLocks noGrp="1"/>
          </p:cNvSpPr>
          <p:nvPr>
            <p:ph type="pic" idx="1"/>
          </p:nvPr>
        </p:nvSpPr>
        <p:spPr>
          <a:xfrm>
            <a:off x="521693" y="135771"/>
            <a:ext cx="621239" cy="670123"/>
          </a:xfrm>
        </p:spPr>
        <p:txBody>
          <a:bodyPr/>
          <a:lstStyle>
            <a:lvl1pPr marL="0" indent="0">
              <a:buNone/>
              <a:defRPr sz="322"/>
            </a:lvl1pPr>
            <a:lvl2pPr marL="46040" indent="0">
              <a:buNone/>
              <a:defRPr sz="282"/>
            </a:lvl2pPr>
            <a:lvl3pPr marL="92080" indent="0">
              <a:buNone/>
              <a:defRPr sz="242"/>
            </a:lvl3pPr>
            <a:lvl4pPr marL="138120" indent="0">
              <a:buNone/>
              <a:defRPr sz="201"/>
            </a:lvl4pPr>
            <a:lvl5pPr marL="184160" indent="0">
              <a:buNone/>
              <a:defRPr sz="201"/>
            </a:lvl5pPr>
            <a:lvl6pPr marL="230200" indent="0">
              <a:buNone/>
              <a:defRPr sz="201"/>
            </a:lvl6pPr>
            <a:lvl7pPr marL="276240" indent="0">
              <a:buNone/>
              <a:defRPr sz="201"/>
            </a:lvl7pPr>
            <a:lvl8pPr marL="322280" indent="0">
              <a:buNone/>
              <a:defRPr sz="201"/>
            </a:lvl8pPr>
            <a:lvl9pPr marL="368320" indent="0">
              <a:buNone/>
              <a:defRPr sz="201"/>
            </a:lvl9pPr>
          </a:lstStyle>
          <a:p>
            <a:endParaRPr lang="es-ES"/>
          </a:p>
        </p:txBody>
      </p:sp>
      <p:sp>
        <p:nvSpPr>
          <p:cNvPr id="4" name="Marcador de texto 3"/>
          <p:cNvSpPr>
            <a:spLocks noGrp="1"/>
          </p:cNvSpPr>
          <p:nvPr>
            <p:ph type="body" sz="half" idx="2"/>
          </p:nvPr>
        </p:nvSpPr>
        <p:spPr>
          <a:xfrm>
            <a:off x="84526" y="282893"/>
            <a:ext cx="395784" cy="524093"/>
          </a:xfrm>
        </p:spPr>
        <p:txBody>
          <a:bodyPr/>
          <a:lstStyle>
            <a:lvl1pPr marL="0" indent="0">
              <a:buNone/>
              <a:defRPr sz="161"/>
            </a:lvl1pPr>
            <a:lvl2pPr marL="46040" indent="0">
              <a:buNone/>
              <a:defRPr sz="141"/>
            </a:lvl2pPr>
            <a:lvl3pPr marL="92080" indent="0">
              <a:buNone/>
              <a:defRPr sz="121"/>
            </a:lvl3pPr>
            <a:lvl4pPr marL="138120" indent="0">
              <a:buNone/>
              <a:defRPr sz="101"/>
            </a:lvl4pPr>
            <a:lvl5pPr marL="184160" indent="0">
              <a:buNone/>
              <a:defRPr sz="101"/>
            </a:lvl5pPr>
            <a:lvl6pPr marL="230200" indent="0">
              <a:buNone/>
              <a:defRPr sz="101"/>
            </a:lvl6pPr>
            <a:lvl7pPr marL="276240" indent="0">
              <a:buNone/>
              <a:defRPr sz="101"/>
            </a:lvl7pPr>
            <a:lvl8pPr marL="322280" indent="0">
              <a:buNone/>
              <a:defRPr sz="101"/>
            </a:lvl8pPr>
            <a:lvl9pPr marL="368320" indent="0">
              <a:buNone/>
              <a:defRPr sz="101"/>
            </a:lvl9pPr>
          </a:lstStyle>
          <a:p>
            <a:pPr lvl="0"/>
            <a:r>
              <a:rPr lang="es-ES"/>
              <a:t>Editar el estilo de texto del patrón</a:t>
            </a:r>
          </a:p>
        </p:txBody>
      </p:sp>
      <p:sp>
        <p:nvSpPr>
          <p:cNvPr id="5" name="Marcador de fecha 4"/>
          <p:cNvSpPr>
            <a:spLocks noGrp="1"/>
          </p:cNvSpPr>
          <p:nvPr>
            <p:ph type="dt" sz="half" idx="10"/>
          </p:nvPr>
        </p:nvSpPr>
        <p:spPr/>
        <p:txBody>
          <a:bodyPr/>
          <a:lstStyle/>
          <a:p>
            <a:fld id="{43423557-295D-4D7D-BCAD-2C3E301925A2}" type="datetimeFigureOut">
              <a:rPr lang="es-ES" smtClean="0"/>
              <a:t>12/08/2026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868C032A-E09D-4C11-8805-4A136CE46688}" type="slidenum">
              <a:rPr lang="es-ES" smtClean="0"/>
              <a:t>‹Nº›</a:t>
            </a:fld>
            <a:endParaRPr lang="es-ES"/>
          </a:p>
        </p:txBody>
      </p:sp>
    </p:spTree>
    <p:extLst>
      <p:ext uri="{BB962C8B-B14F-4D97-AF65-F5344CB8AC3E}">
        <p14:creationId xmlns:p14="http://schemas.microsoft.com/office/powerpoint/2010/main" val="119577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3423557-295D-4D7D-BCAD-2C3E301925A2}" type="datetimeFigureOut">
              <a:rPr lang="es-ES" smtClean="0"/>
              <a:t>12/08/2026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68C032A-E09D-4C11-8805-4A136CE46688}" type="slidenum">
              <a:rPr lang="es-ES" smtClean="0"/>
              <a:t>‹Nº›</a:t>
            </a:fld>
            <a:endParaRPr lang="es-ES"/>
          </a:p>
        </p:txBody>
      </p:sp>
    </p:spTree>
    <p:extLst>
      <p:ext uri="{BB962C8B-B14F-4D97-AF65-F5344CB8AC3E}">
        <p14:creationId xmlns:p14="http://schemas.microsoft.com/office/powerpoint/2010/main" val="2372258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8170" y="50205"/>
            <a:ext cx="264602" cy="79912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4366" y="50205"/>
            <a:ext cx="778466" cy="79912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3423557-295D-4D7D-BCAD-2C3E301925A2}" type="datetimeFigureOut">
              <a:rPr lang="es-ES" smtClean="0"/>
              <a:t>12/08/2026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68C032A-E09D-4C11-8805-4A136CE46688}" type="slidenum">
              <a:rPr lang="es-ES" smtClean="0"/>
              <a:t>‹Nº›</a:t>
            </a:fld>
            <a:endParaRPr lang="es-ES"/>
          </a:p>
        </p:txBody>
      </p:sp>
    </p:spTree>
    <p:extLst>
      <p:ext uri="{BB962C8B-B14F-4D97-AF65-F5344CB8AC3E}">
        <p14:creationId xmlns:p14="http://schemas.microsoft.com/office/powerpoint/2010/main" val="1454370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4366" y="50205"/>
            <a:ext cx="1058407" cy="182265"/>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4366" y="251023"/>
            <a:ext cx="1058407" cy="598309"/>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4366" y="873998"/>
            <a:ext cx="276106" cy="50205"/>
          </a:xfrm>
          <a:prstGeom prst="rect">
            <a:avLst/>
          </a:prstGeom>
        </p:spPr>
        <p:txBody>
          <a:bodyPr vert="horz" lIns="91440" tIns="45720" rIns="91440" bIns="45720" rtlCol="0" anchor="ctr"/>
          <a:lstStyle>
            <a:lvl1pPr algn="l">
              <a:defRPr sz="121">
                <a:solidFill>
                  <a:schemeClr val="tx1">
                    <a:tint val="75000"/>
                  </a:schemeClr>
                </a:solidFill>
              </a:defRPr>
            </a:lvl1pPr>
          </a:lstStyle>
          <a:p>
            <a:fld id="{43423557-295D-4D7D-BCAD-2C3E301925A2}" type="datetimeFigureOut">
              <a:rPr lang="es-ES" smtClean="0"/>
              <a:t>12/08/2026</a:t>
            </a:fld>
            <a:endParaRPr lang="es-ES"/>
          </a:p>
        </p:txBody>
      </p:sp>
      <p:sp>
        <p:nvSpPr>
          <p:cNvPr id="5" name="Marcador de pie de página 4"/>
          <p:cNvSpPr>
            <a:spLocks noGrp="1"/>
          </p:cNvSpPr>
          <p:nvPr>
            <p:ph type="ftr" sz="quarter" idx="3"/>
          </p:nvPr>
        </p:nvSpPr>
        <p:spPr>
          <a:xfrm>
            <a:off x="406490" y="873998"/>
            <a:ext cx="414159" cy="50205"/>
          </a:xfrm>
          <a:prstGeom prst="rect">
            <a:avLst/>
          </a:prstGeom>
        </p:spPr>
        <p:txBody>
          <a:bodyPr vert="horz" lIns="91440" tIns="45720" rIns="91440" bIns="45720" rtlCol="0" anchor="ctr"/>
          <a:lstStyle>
            <a:lvl1pPr algn="ctr">
              <a:defRPr sz="121">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6666" y="873998"/>
            <a:ext cx="276106" cy="50205"/>
          </a:xfrm>
          <a:prstGeom prst="rect">
            <a:avLst/>
          </a:prstGeom>
        </p:spPr>
        <p:txBody>
          <a:bodyPr vert="horz" lIns="91440" tIns="45720" rIns="91440" bIns="45720" rtlCol="0" anchor="ctr"/>
          <a:lstStyle>
            <a:lvl1pPr algn="r">
              <a:defRPr sz="121">
                <a:solidFill>
                  <a:schemeClr val="tx1">
                    <a:tint val="75000"/>
                  </a:schemeClr>
                </a:solidFill>
              </a:defRPr>
            </a:lvl1pPr>
          </a:lstStyle>
          <a:p>
            <a:fld id="{868C032A-E09D-4C11-8805-4A136CE46688}" type="slidenum">
              <a:rPr lang="es-ES" smtClean="0"/>
              <a:t>‹Nº›</a:t>
            </a:fld>
            <a:endParaRPr lang="es-ES"/>
          </a:p>
        </p:txBody>
      </p:sp>
    </p:spTree>
    <p:extLst>
      <p:ext uri="{BB962C8B-B14F-4D97-AF65-F5344CB8AC3E}">
        <p14:creationId xmlns:p14="http://schemas.microsoft.com/office/powerpoint/2010/main" val="2113216093"/>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2080" rtl="0" eaLnBrk="1" latinLnBrk="0" hangingPunct="1">
        <a:lnSpc>
          <a:spcPct val="90000"/>
        </a:lnSpc>
        <a:spcBef>
          <a:spcPct val="0"/>
        </a:spcBef>
        <a:buNone/>
        <a:defRPr sz="443" kern="1200">
          <a:solidFill>
            <a:schemeClr val="tx1"/>
          </a:solidFill>
          <a:latin typeface="+mj-lt"/>
          <a:ea typeface="+mj-ea"/>
          <a:cs typeface="+mj-cs"/>
        </a:defRPr>
      </a:lvl1pPr>
    </p:titleStyle>
    <p:bodyStyle>
      <a:lvl1pPr marL="23020" indent="-23020" algn="l" defTabSz="92080" rtl="0" eaLnBrk="1" latinLnBrk="0" hangingPunct="1">
        <a:lnSpc>
          <a:spcPct val="90000"/>
        </a:lnSpc>
        <a:spcBef>
          <a:spcPts val="101"/>
        </a:spcBef>
        <a:buFont typeface="Arial" panose="020B0604020202020204" pitchFamily="34" charset="0"/>
        <a:buChar char="•"/>
        <a:defRPr sz="282" kern="1200">
          <a:solidFill>
            <a:schemeClr val="tx1"/>
          </a:solidFill>
          <a:latin typeface="+mn-lt"/>
          <a:ea typeface="+mn-ea"/>
          <a:cs typeface="+mn-cs"/>
        </a:defRPr>
      </a:lvl1pPr>
      <a:lvl2pPr marL="69060" indent="-23020" algn="l" defTabSz="92080" rtl="0" eaLnBrk="1" latinLnBrk="0" hangingPunct="1">
        <a:lnSpc>
          <a:spcPct val="90000"/>
        </a:lnSpc>
        <a:spcBef>
          <a:spcPts val="50"/>
        </a:spcBef>
        <a:buFont typeface="Arial" panose="020B0604020202020204" pitchFamily="34" charset="0"/>
        <a:buChar char="•"/>
        <a:defRPr sz="242" kern="1200">
          <a:solidFill>
            <a:schemeClr val="tx1"/>
          </a:solidFill>
          <a:latin typeface="+mn-lt"/>
          <a:ea typeface="+mn-ea"/>
          <a:cs typeface="+mn-cs"/>
        </a:defRPr>
      </a:lvl2pPr>
      <a:lvl3pPr marL="115100" indent="-23020" algn="l" defTabSz="92080" rtl="0" eaLnBrk="1" latinLnBrk="0" hangingPunct="1">
        <a:lnSpc>
          <a:spcPct val="90000"/>
        </a:lnSpc>
        <a:spcBef>
          <a:spcPts val="50"/>
        </a:spcBef>
        <a:buFont typeface="Arial" panose="020B0604020202020204" pitchFamily="34" charset="0"/>
        <a:buChar char="•"/>
        <a:defRPr sz="201" kern="1200">
          <a:solidFill>
            <a:schemeClr val="tx1"/>
          </a:solidFill>
          <a:latin typeface="+mn-lt"/>
          <a:ea typeface="+mn-ea"/>
          <a:cs typeface="+mn-cs"/>
        </a:defRPr>
      </a:lvl3pPr>
      <a:lvl4pPr marL="161140" indent="-23020" algn="l" defTabSz="92080" rtl="0" eaLnBrk="1" latinLnBrk="0" hangingPunct="1">
        <a:lnSpc>
          <a:spcPct val="90000"/>
        </a:lnSpc>
        <a:spcBef>
          <a:spcPts val="50"/>
        </a:spcBef>
        <a:buFont typeface="Arial" panose="020B0604020202020204" pitchFamily="34" charset="0"/>
        <a:buChar char="•"/>
        <a:defRPr sz="181" kern="1200">
          <a:solidFill>
            <a:schemeClr val="tx1"/>
          </a:solidFill>
          <a:latin typeface="+mn-lt"/>
          <a:ea typeface="+mn-ea"/>
          <a:cs typeface="+mn-cs"/>
        </a:defRPr>
      </a:lvl4pPr>
      <a:lvl5pPr marL="207180" indent="-23020" algn="l" defTabSz="92080" rtl="0" eaLnBrk="1" latinLnBrk="0" hangingPunct="1">
        <a:lnSpc>
          <a:spcPct val="90000"/>
        </a:lnSpc>
        <a:spcBef>
          <a:spcPts val="50"/>
        </a:spcBef>
        <a:buFont typeface="Arial" panose="020B0604020202020204" pitchFamily="34" charset="0"/>
        <a:buChar char="•"/>
        <a:defRPr sz="181" kern="1200">
          <a:solidFill>
            <a:schemeClr val="tx1"/>
          </a:solidFill>
          <a:latin typeface="+mn-lt"/>
          <a:ea typeface="+mn-ea"/>
          <a:cs typeface="+mn-cs"/>
        </a:defRPr>
      </a:lvl5pPr>
      <a:lvl6pPr marL="253220" indent="-23020" algn="l" defTabSz="92080" rtl="0" eaLnBrk="1" latinLnBrk="0" hangingPunct="1">
        <a:lnSpc>
          <a:spcPct val="90000"/>
        </a:lnSpc>
        <a:spcBef>
          <a:spcPts val="50"/>
        </a:spcBef>
        <a:buFont typeface="Arial" panose="020B0604020202020204" pitchFamily="34" charset="0"/>
        <a:buChar char="•"/>
        <a:defRPr sz="181" kern="1200">
          <a:solidFill>
            <a:schemeClr val="tx1"/>
          </a:solidFill>
          <a:latin typeface="+mn-lt"/>
          <a:ea typeface="+mn-ea"/>
          <a:cs typeface="+mn-cs"/>
        </a:defRPr>
      </a:lvl6pPr>
      <a:lvl7pPr marL="299260" indent="-23020" algn="l" defTabSz="92080" rtl="0" eaLnBrk="1" latinLnBrk="0" hangingPunct="1">
        <a:lnSpc>
          <a:spcPct val="90000"/>
        </a:lnSpc>
        <a:spcBef>
          <a:spcPts val="50"/>
        </a:spcBef>
        <a:buFont typeface="Arial" panose="020B0604020202020204" pitchFamily="34" charset="0"/>
        <a:buChar char="•"/>
        <a:defRPr sz="181" kern="1200">
          <a:solidFill>
            <a:schemeClr val="tx1"/>
          </a:solidFill>
          <a:latin typeface="+mn-lt"/>
          <a:ea typeface="+mn-ea"/>
          <a:cs typeface="+mn-cs"/>
        </a:defRPr>
      </a:lvl7pPr>
      <a:lvl8pPr marL="345300" indent="-23020" algn="l" defTabSz="92080" rtl="0" eaLnBrk="1" latinLnBrk="0" hangingPunct="1">
        <a:lnSpc>
          <a:spcPct val="90000"/>
        </a:lnSpc>
        <a:spcBef>
          <a:spcPts val="50"/>
        </a:spcBef>
        <a:buFont typeface="Arial" panose="020B0604020202020204" pitchFamily="34" charset="0"/>
        <a:buChar char="•"/>
        <a:defRPr sz="181" kern="1200">
          <a:solidFill>
            <a:schemeClr val="tx1"/>
          </a:solidFill>
          <a:latin typeface="+mn-lt"/>
          <a:ea typeface="+mn-ea"/>
          <a:cs typeface="+mn-cs"/>
        </a:defRPr>
      </a:lvl8pPr>
      <a:lvl9pPr marL="391340" indent="-23020" algn="l" defTabSz="92080" rtl="0" eaLnBrk="1" latinLnBrk="0" hangingPunct="1">
        <a:lnSpc>
          <a:spcPct val="90000"/>
        </a:lnSpc>
        <a:spcBef>
          <a:spcPts val="50"/>
        </a:spcBef>
        <a:buFont typeface="Arial" panose="020B0604020202020204" pitchFamily="34" charset="0"/>
        <a:buChar char="•"/>
        <a:defRPr sz="181" kern="1200">
          <a:solidFill>
            <a:schemeClr val="tx1"/>
          </a:solidFill>
          <a:latin typeface="+mn-lt"/>
          <a:ea typeface="+mn-ea"/>
          <a:cs typeface="+mn-cs"/>
        </a:defRPr>
      </a:lvl9pPr>
    </p:bodyStyle>
    <p:otherStyle>
      <a:defPPr>
        <a:defRPr lang="es-ES"/>
      </a:defPPr>
      <a:lvl1pPr marL="0" algn="l" defTabSz="92080" rtl="0" eaLnBrk="1" latinLnBrk="0" hangingPunct="1">
        <a:defRPr sz="181" kern="1200">
          <a:solidFill>
            <a:schemeClr val="tx1"/>
          </a:solidFill>
          <a:latin typeface="+mn-lt"/>
          <a:ea typeface="+mn-ea"/>
          <a:cs typeface="+mn-cs"/>
        </a:defRPr>
      </a:lvl1pPr>
      <a:lvl2pPr marL="46040" algn="l" defTabSz="92080" rtl="0" eaLnBrk="1" latinLnBrk="0" hangingPunct="1">
        <a:defRPr sz="181" kern="1200">
          <a:solidFill>
            <a:schemeClr val="tx1"/>
          </a:solidFill>
          <a:latin typeface="+mn-lt"/>
          <a:ea typeface="+mn-ea"/>
          <a:cs typeface="+mn-cs"/>
        </a:defRPr>
      </a:lvl2pPr>
      <a:lvl3pPr marL="92080" algn="l" defTabSz="92080" rtl="0" eaLnBrk="1" latinLnBrk="0" hangingPunct="1">
        <a:defRPr sz="181" kern="1200">
          <a:solidFill>
            <a:schemeClr val="tx1"/>
          </a:solidFill>
          <a:latin typeface="+mn-lt"/>
          <a:ea typeface="+mn-ea"/>
          <a:cs typeface="+mn-cs"/>
        </a:defRPr>
      </a:lvl3pPr>
      <a:lvl4pPr marL="138120" algn="l" defTabSz="92080" rtl="0" eaLnBrk="1" latinLnBrk="0" hangingPunct="1">
        <a:defRPr sz="181" kern="1200">
          <a:solidFill>
            <a:schemeClr val="tx1"/>
          </a:solidFill>
          <a:latin typeface="+mn-lt"/>
          <a:ea typeface="+mn-ea"/>
          <a:cs typeface="+mn-cs"/>
        </a:defRPr>
      </a:lvl4pPr>
      <a:lvl5pPr marL="184160" algn="l" defTabSz="92080" rtl="0" eaLnBrk="1" latinLnBrk="0" hangingPunct="1">
        <a:defRPr sz="181" kern="1200">
          <a:solidFill>
            <a:schemeClr val="tx1"/>
          </a:solidFill>
          <a:latin typeface="+mn-lt"/>
          <a:ea typeface="+mn-ea"/>
          <a:cs typeface="+mn-cs"/>
        </a:defRPr>
      </a:lvl5pPr>
      <a:lvl6pPr marL="230200" algn="l" defTabSz="92080" rtl="0" eaLnBrk="1" latinLnBrk="0" hangingPunct="1">
        <a:defRPr sz="181" kern="1200">
          <a:solidFill>
            <a:schemeClr val="tx1"/>
          </a:solidFill>
          <a:latin typeface="+mn-lt"/>
          <a:ea typeface="+mn-ea"/>
          <a:cs typeface="+mn-cs"/>
        </a:defRPr>
      </a:lvl6pPr>
      <a:lvl7pPr marL="276240" algn="l" defTabSz="92080" rtl="0" eaLnBrk="1" latinLnBrk="0" hangingPunct="1">
        <a:defRPr sz="181" kern="1200">
          <a:solidFill>
            <a:schemeClr val="tx1"/>
          </a:solidFill>
          <a:latin typeface="+mn-lt"/>
          <a:ea typeface="+mn-ea"/>
          <a:cs typeface="+mn-cs"/>
        </a:defRPr>
      </a:lvl7pPr>
      <a:lvl8pPr marL="322280" algn="l" defTabSz="92080" rtl="0" eaLnBrk="1" latinLnBrk="0" hangingPunct="1">
        <a:defRPr sz="181" kern="1200">
          <a:solidFill>
            <a:schemeClr val="tx1"/>
          </a:solidFill>
          <a:latin typeface="+mn-lt"/>
          <a:ea typeface="+mn-ea"/>
          <a:cs typeface="+mn-cs"/>
        </a:defRPr>
      </a:lvl8pPr>
      <a:lvl9pPr marL="368320" algn="l" defTabSz="92080" rtl="0" eaLnBrk="1" latinLnBrk="0" hangingPunct="1">
        <a:defRPr sz="18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0" y="192425"/>
            <a:ext cx="1227138" cy="328295"/>
          </a:xfrm>
          <a:ln>
            <a:noFill/>
          </a:ln>
          <a:effectLst>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p:spPr>
        <p:txBody>
          <a:bodyPr>
            <a:normAutofit fontScale="90000"/>
          </a:bodyPr>
          <a:lstStyle/>
          <a:p>
            <a:br>
              <a:rPr lang="es-ES" sz="800" b="1" dirty="0">
                <a:latin typeface="Calibri" pitchFamily="34" charset="0"/>
                <a:cs typeface="Calibri" pitchFamily="34" charset="0"/>
              </a:rPr>
            </a:br>
            <a:br>
              <a:rPr lang="es-ES" sz="800" b="1" dirty="0">
                <a:latin typeface="Calibri" pitchFamily="34" charset="0"/>
                <a:cs typeface="Calibri" pitchFamily="34" charset="0"/>
              </a:rPr>
            </a:br>
            <a:br>
              <a:rPr lang="es-ES" sz="800" b="1" dirty="0">
                <a:latin typeface="Calibri" pitchFamily="34" charset="0"/>
                <a:cs typeface="Calibri" pitchFamily="34" charset="0"/>
              </a:rPr>
            </a:br>
            <a:r>
              <a:rPr lang="es-ES" sz="1100" b="1" dirty="0">
                <a:solidFill>
                  <a:schemeClr val="accent5">
                    <a:lumMod val="75000"/>
                  </a:schemeClr>
                </a:solidFill>
                <a:latin typeface="+mn-lt"/>
                <a:cs typeface="Calibri" pitchFamily="34" charset="0"/>
              </a:rPr>
              <a:t>HTML</a:t>
            </a:r>
            <a:endParaRPr lang="es-ES" sz="600" b="1" dirty="0">
              <a:solidFill>
                <a:schemeClr val="accent5">
                  <a:lumMod val="75000"/>
                </a:schemeClr>
              </a:solidFill>
              <a:latin typeface="+mn-lt"/>
              <a:cs typeface="Calibri" pitchFamily="34" charset="0"/>
            </a:endParaRPr>
          </a:p>
        </p:txBody>
      </p:sp>
      <p:sp>
        <p:nvSpPr>
          <p:cNvPr id="3" name="Subtítulo 2"/>
          <p:cNvSpPr>
            <a:spLocks noGrp="1"/>
          </p:cNvSpPr>
          <p:nvPr>
            <p:ph type="subTitle" idx="1"/>
          </p:nvPr>
        </p:nvSpPr>
        <p:spPr>
          <a:xfrm>
            <a:off x="566739" y="541476"/>
            <a:ext cx="800894" cy="353874"/>
          </a:xfrm>
          <a:effectLst>
            <a:outerShdw blurRad="50800" dist="38100" dir="2700000" algn="tl" rotWithShape="0">
              <a:prstClr val="black">
                <a:alpha val="40000"/>
              </a:prstClr>
            </a:outerShdw>
          </a:effectLst>
        </p:spPr>
        <p:txBody>
          <a:bodyPr>
            <a:noAutofit/>
          </a:bodyPr>
          <a:lstStyle/>
          <a:p>
            <a:pPr algn="just">
              <a:lnSpc>
                <a:spcPct val="170000"/>
              </a:lnSpc>
            </a:pPr>
            <a:r>
              <a:rPr lang="es-ES" sz="350" b="1" dirty="0">
                <a:latin typeface="Bahnschrift" panose="020B0502040204020203" pitchFamily="34" charset="0"/>
                <a:cs typeface="Calibri" pitchFamily="34" charset="0"/>
              </a:rPr>
              <a:t>Instructor:        </a:t>
            </a:r>
          </a:p>
          <a:p>
            <a:pPr algn="just">
              <a:lnSpc>
                <a:spcPct val="170000"/>
              </a:lnSpc>
            </a:pPr>
            <a:r>
              <a:rPr lang="es-ES" sz="350" dirty="0">
                <a:latin typeface="Bahnschrift" panose="020B0502040204020203" pitchFamily="34" charset="0"/>
                <a:cs typeface="Calibri" pitchFamily="34" charset="0"/>
              </a:rPr>
              <a:t>Ing. María Eugenia Cabeza</a:t>
            </a:r>
          </a:p>
          <a:p>
            <a:pPr algn="just">
              <a:lnSpc>
                <a:spcPct val="170000"/>
              </a:lnSpc>
            </a:pPr>
            <a:r>
              <a:rPr lang="es-ES" sz="350" dirty="0">
                <a:latin typeface="Bahnschrift" panose="020B0502040204020203" pitchFamily="34" charset="0"/>
                <a:cs typeface="Calibri" pitchFamily="34" charset="0"/>
              </a:rPr>
              <a:t>0424-7193646</a:t>
            </a:r>
          </a:p>
        </p:txBody>
      </p:sp>
    </p:spTree>
    <p:extLst>
      <p:ext uri="{BB962C8B-B14F-4D97-AF65-F5344CB8AC3E}">
        <p14:creationId xmlns:p14="http://schemas.microsoft.com/office/powerpoint/2010/main" val="663468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0" y="-1594"/>
            <a:ext cx="1097756" cy="174791"/>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Definición e Importancia de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5" name="4 CuadroTexto"/>
          <p:cNvSpPr txBox="1"/>
          <p:nvPr/>
        </p:nvSpPr>
        <p:spPr>
          <a:xfrm>
            <a:off x="0" y="118778"/>
            <a:ext cx="1227138" cy="541046"/>
          </a:xfrm>
          <a:prstGeom prst="rect">
            <a:avLst/>
          </a:prstGeom>
          <a:noFill/>
        </p:spPr>
        <p:txBody>
          <a:bodyPr wrap="square" rtlCol="0">
            <a:spAutoFit/>
          </a:bodyPr>
          <a:lstStyle/>
          <a:p>
            <a:pPr algn="just">
              <a:lnSpc>
                <a:spcPct val="200000"/>
              </a:lnSpc>
            </a:pPr>
            <a:r>
              <a:rPr lang="es-ES" sz="300" dirty="0"/>
              <a:t>	HTML o </a:t>
            </a:r>
            <a:r>
              <a:rPr lang="es-ES" sz="300" dirty="0" err="1"/>
              <a:t>HyperText</a:t>
            </a:r>
            <a:r>
              <a:rPr lang="es-ES" sz="300" dirty="0"/>
              <a:t> </a:t>
            </a:r>
            <a:r>
              <a:rPr lang="es-ES" sz="300" dirty="0" err="1"/>
              <a:t>Markup</a:t>
            </a:r>
            <a:r>
              <a:rPr lang="es-ES" sz="300" dirty="0"/>
              <a:t> </a:t>
            </a:r>
            <a:r>
              <a:rPr lang="es-ES" sz="300" dirty="0" err="1"/>
              <a:t>Language</a:t>
            </a:r>
            <a:r>
              <a:rPr lang="es-ES" sz="300" dirty="0"/>
              <a:t> es el lenguaje de marcado de hipertexto que sirve de referencia para elaborar páginas web, ya que define una estructura básica y un código (denominado código HTML) para el contenido de las mismas, como texto, imágenes, videos, juegos, entre otros.</a:t>
            </a:r>
          </a:p>
        </p:txBody>
      </p:sp>
    </p:spTree>
    <p:extLst>
      <p:ext uri="{BB962C8B-B14F-4D97-AF65-F5344CB8AC3E}">
        <p14:creationId xmlns:p14="http://schemas.microsoft.com/office/powerpoint/2010/main" val="23606632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9A8EF-AF53-3016-3510-12C82F2445B9}"/>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D68411AD-65BA-2B48-62FF-FEAE3154311F}"/>
              </a:ext>
            </a:extLst>
          </p:cNvPr>
          <p:cNvSpPr txBox="1"/>
          <p:nvPr/>
        </p:nvSpPr>
        <p:spPr>
          <a:xfrm>
            <a:off x="0" y="-1594"/>
            <a:ext cx="1097756" cy="174791"/>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Definición e Importancia de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5" name="4 CuadroTexto">
            <a:extLst>
              <a:ext uri="{FF2B5EF4-FFF2-40B4-BE49-F238E27FC236}">
                <a16:creationId xmlns:a16="http://schemas.microsoft.com/office/drawing/2014/main" id="{5CCA2A5B-DB05-BD69-05CA-B4BA44F63390}"/>
              </a:ext>
            </a:extLst>
          </p:cNvPr>
          <p:cNvSpPr txBox="1"/>
          <p:nvPr/>
        </p:nvSpPr>
        <p:spPr>
          <a:xfrm>
            <a:off x="0" y="118778"/>
            <a:ext cx="1227138" cy="541046"/>
          </a:xfrm>
          <a:prstGeom prst="rect">
            <a:avLst/>
          </a:prstGeom>
          <a:noFill/>
        </p:spPr>
        <p:txBody>
          <a:bodyPr wrap="square" rtlCol="0">
            <a:spAutoFit/>
          </a:bodyPr>
          <a:lstStyle/>
          <a:p>
            <a:pPr algn="just">
              <a:lnSpc>
                <a:spcPct val="200000"/>
              </a:lnSpc>
            </a:pPr>
            <a:r>
              <a:rPr lang="es-ES" sz="300" dirty="0"/>
              <a:t>	HTML se considera el lenguaje web más importante ya que fue pilar fundamental en la aparición, desarrollo y expansión de la </a:t>
            </a:r>
            <a:r>
              <a:rPr lang="es-ES" sz="300" dirty="0" err="1"/>
              <a:t>World</a:t>
            </a:r>
            <a:r>
              <a:rPr lang="es-ES" sz="300" dirty="0"/>
              <a:t> Wide Web (WWW). Es el estándar que se ha impuesto en la visualización de páginas web y es el que todos los navegadores actuales han adoptado.  </a:t>
            </a:r>
            <a:endParaRPr lang="es-VE" sz="300" dirty="0"/>
          </a:p>
        </p:txBody>
      </p:sp>
    </p:spTree>
    <p:extLst>
      <p:ext uri="{BB962C8B-B14F-4D97-AF65-F5344CB8AC3E}">
        <p14:creationId xmlns:p14="http://schemas.microsoft.com/office/powerpoint/2010/main" val="893611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0ED49-46A0-6C61-9EF8-8C7FE217A482}"/>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E9C33BE1-BF13-4D3D-0C02-3EE7492086E5}"/>
              </a:ext>
            </a:extLst>
          </p:cNvPr>
          <p:cNvSpPr txBox="1"/>
          <p:nvPr/>
        </p:nvSpPr>
        <p:spPr>
          <a:xfrm>
            <a:off x="0" y="-1594"/>
            <a:ext cx="1097756" cy="174791"/>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Definición e Importancia de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5" name="4 CuadroTexto">
            <a:extLst>
              <a:ext uri="{FF2B5EF4-FFF2-40B4-BE49-F238E27FC236}">
                <a16:creationId xmlns:a16="http://schemas.microsoft.com/office/drawing/2014/main" id="{5DF3DEB8-AFD9-BCAB-7F8E-ABC58BB50623}"/>
              </a:ext>
            </a:extLst>
          </p:cNvPr>
          <p:cNvSpPr txBox="1"/>
          <p:nvPr/>
        </p:nvSpPr>
        <p:spPr>
          <a:xfrm>
            <a:off x="0" y="118778"/>
            <a:ext cx="1227138" cy="616066"/>
          </a:xfrm>
          <a:prstGeom prst="rect">
            <a:avLst/>
          </a:prstGeom>
          <a:noFill/>
        </p:spPr>
        <p:txBody>
          <a:bodyPr wrap="square" rtlCol="0">
            <a:spAutoFit/>
          </a:bodyPr>
          <a:lstStyle/>
          <a:p>
            <a:pPr algn="just">
              <a:lnSpc>
                <a:spcPct val="200000"/>
              </a:lnSpc>
            </a:pPr>
            <a:r>
              <a:rPr lang="es-ES" sz="300" dirty="0"/>
              <a:t>	HTML es un lenguaje de marcado que nos permite indicar la estructura de nuestro documento mediante etiquetas. Este lenguaje nos ofrece una gran adaptabilidad, una estructuración lógica y es fácil de interpretar tanto por humanos como por máquinas.</a:t>
            </a:r>
          </a:p>
          <a:p>
            <a:pPr algn="just">
              <a:lnSpc>
                <a:spcPct val="150000"/>
              </a:lnSpc>
            </a:pPr>
            <a:endParaRPr lang="es-VE" sz="300" dirty="0"/>
          </a:p>
        </p:txBody>
      </p:sp>
    </p:spTree>
    <p:extLst>
      <p:ext uri="{BB962C8B-B14F-4D97-AF65-F5344CB8AC3E}">
        <p14:creationId xmlns:p14="http://schemas.microsoft.com/office/powerpoint/2010/main" val="3184586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4EB6F-A5BD-E5D2-5CEE-2AB844286F3C}"/>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72DECECC-F4EC-D379-96B4-C0FF36E79A8D}"/>
              </a:ext>
            </a:extLst>
          </p:cNvPr>
          <p:cNvSpPr txBox="1"/>
          <p:nvPr/>
        </p:nvSpPr>
        <p:spPr>
          <a:xfrm>
            <a:off x="0" y="-1594"/>
            <a:ext cx="1097756" cy="264431"/>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Historia</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a:p>
            <a:pPr algn="ctr">
              <a:lnSpc>
                <a:spcPct val="150000"/>
              </a:lnSpc>
            </a:pP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5" name="4 CuadroTexto">
            <a:extLst>
              <a:ext uri="{FF2B5EF4-FFF2-40B4-BE49-F238E27FC236}">
                <a16:creationId xmlns:a16="http://schemas.microsoft.com/office/drawing/2014/main" id="{4CF250D4-CCC8-7FD9-7050-ADA5283E9E27}"/>
              </a:ext>
            </a:extLst>
          </p:cNvPr>
          <p:cNvSpPr txBox="1"/>
          <p:nvPr/>
        </p:nvSpPr>
        <p:spPr>
          <a:xfrm>
            <a:off x="0" y="118778"/>
            <a:ext cx="1227138" cy="616066"/>
          </a:xfrm>
          <a:prstGeom prst="rect">
            <a:avLst/>
          </a:prstGeom>
          <a:noFill/>
        </p:spPr>
        <p:txBody>
          <a:bodyPr wrap="square" rtlCol="0">
            <a:spAutoFit/>
          </a:bodyPr>
          <a:lstStyle/>
          <a:p>
            <a:pPr algn="just">
              <a:lnSpc>
                <a:spcPct val="200000"/>
              </a:lnSpc>
            </a:pPr>
            <a:r>
              <a:rPr lang="es-ES" sz="300" dirty="0"/>
              <a:t>	Aunque el lenguaje formalmente se materializó a principios de los 90, sus raíces se remontan a </a:t>
            </a:r>
            <a:r>
              <a:rPr lang="es-ES" sz="300" b="1" dirty="0"/>
              <a:t>1980</a:t>
            </a:r>
            <a:r>
              <a:rPr lang="es-ES" sz="300" dirty="0"/>
              <a:t>, cuando el físico británico </a:t>
            </a:r>
            <a:r>
              <a:rPr lang="es-ES" sz="300" b="1" dirty="0"/>
              <a:t>Tim Berners-Lee</a:t>
            </a:r>
            <a:r>
              <a:rPr lang="es-ES" sz="300" dirty="0"/>
              <a:t>, quien trabajaba en el </a:t>
            </a:r>
            <a:r>
              <a:rPr lang="es-ES" sz="300" b="1" dirty="0"/>
              <a:t>CERN</a:t>
            </a:r>
            <a:r>
              <a:rPr lang="es-ES" sz="300" dirty="0"/>
              <a:t> (Organización Europea para la Investigación Nuclear) en Ginebra, Suiza, propuso un sistema de "hipertexto".</a:t>
            </a:r>
          </a:p>
          <a:p>
            <a:pPr marL="88900" indent="-88900" algn="just">
              <a:lnSpc>
                <a:spcPct val="150000"/>
              </a:lnSpc>
              <a:buFont typeface="Wingdings" panose="05000000000000000000" pitchFamily="2" charset="2"/>
              <a:buChar char="ü"/>
            </a:pPr>
            <a:endParaRPr lang="en-US" sz="300" b="1" dirty="0">
              <a:solidFill>
                <a:srgbClr val="00B0F0"/>
              </a:solidFill>
            </a:endParaRPr>
          </a:p>
        </p:txBody>
      </p:sp>
    </p:spTree>
    <p:extLst>
      <p:ext uri="{BB962C8B-B14F-4D97-AF65-F5344CB8AC3E}">
        <p14:creationId xmlns:p14="http://schemas.microsoft.com/office/powerpoint/2010/main" val="929228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B75B-790C-593C-E1C1-D4415AFB9F37}"/>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436929C2-88FF-BB18-06E5-4C99EAF2C61C}"/>
              </a:ext>
            </a:extLst>
          </p:cNvPr>
          <p:cNvSpPr txBox="1"/>
          <p:nvPr/>
        </p:nvSpPr>
        <p:spPr>
          <a:xfrm>
            <a:off x="0" y="-1594"/>
            <a:ext cx="1097756" cy="174791"/>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Historia</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5" name="4 CuadroTexto">
            <a:extLst>
              <a:ext uri="{FF2B5EF4-FFF2-40B4-BE49-F238E27FC236}">
                <a16:creationId xmlns:a16="http://schemas.microsoft.com/office/drawing/2014/main" id="{DE58257F-D89B-B64D-A24C-76F8A61B51E8}"/>
              </a:ext>
            </a:extLst>
          </p:cNvPr>
          <p:cNvSpPr txBox="1"/>
          <p:nvPr/>
        </p:nvSpPr>
        <p:spPr>
          <a:xfrm>
            <a:off x="0" y="118778"/>
            <a:ext cx="1227138" cy="616066"/>
          </a:xfrm>
          <a:prstGeom prst="rect">
            <a:avLst/>
          </a:prstGeom>
          <a:noFill/>
        </p:spPr>
        <p:txBody>
          <a:bodyPr wrap="square" rtlCol="0">
            <a:spAutoFit/>
          </a:bodyPr>
          <a:lstStyle/>
          <a:p>
            <a:pPr lvl="1" algn="just">
              <a:lnSpc>
                <a:spcPct val="200000"/>
              </a:lnSpc>
            </a:pPr>
            <a:r>
              <a:rPr lang="es-ES" sz="300" dirty="0"/>
              <a:t>		Surgió por la necesidad principal era crear una forma sencilla para que los científicos de diferentes universidades e institutos de investigación de todo el mundo pudieran compartir y acceder a documentos académicos de manera eficiente.</a:t>
            </a:r>
          </a:p>
          <a:p>
            <a:pPr algn="just">
              <a:lnSpc>
                <a:spcPct val="150000"/>
              </a:lnSpc>
            </a:pPr>
            <a:endParaRPr lang="en-US" sz="300" dirty="0"/>
          </a:p>
        </p:txBody>
      </p:sp>
    </p:spTree>
    <p:extLst>
      <p:ext uri="{BB962C8B-B14F-4D97-AF65-F5344CB8AC3E}">
        <p14:creationId xmlns:p14="http://schemas.microsoft.com/office/powerpoint/2010/main" val="2353099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4F182-159A-6DA3-6BC2-80B8AEA0CD95}"/>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9F95AFE8-9AEF-03C1-903A-C9FE575ED41D}"/>
              </a:ext>
            </a:extLst>
          </p:cNvPr>
          <p:cNvSpPr txBox="1"/>
          <p:nvPr/>
        </p:nvSpPr>
        <p:spPr>
          <a:xfrm>
            <a:off x="0" y="-1594"/>
            <a:ext cx="1097756" cy="174791"/>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Historia</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5" name="4 CuadroTexto">
            <a:extLst>
              <a:ext uri="{FF2B5EF4-FFF2-40B4-BE49-F238E27FC236}">
                <a16:creationId xmlns:a16="http://schemas.microsoft.com/office/drawing/2014/main" id="{EFBDAE89-73D2-A828-850D-54D91D6DBC13}"/>
              </a:ext>
            </a:extLst>
          </p:cNvPr>
          <p:cNvSpPr txBox="1"/>
          <p:nvPr/>
        </p:nvSpPr>
        <p:spPr>
          <a:xfrm>
            <a:off x="0" y="118778"/>
            <a:ext cx="1227138" cy="616066"/>
          </a:xfrm>
          <a:prstGeom prst="rect">
            <a:avLst/>
          </a:prstGeom>
          <a:noFill/>
        </p:spPr>
        <p:txBody>
          <a:bodyPr wrap="square" rtlCol="0">
            <a:spAutoFit/>
          </a:bodyPr>
          <a:lstStyle/>
          <a:p>
            <a:pPr algn="just">
              <a:lnSpc>
                <a:spcPct val="200000"/>
              </a:lnSpc>
            </a:pPr>
            <a:r>
              <a:rPr lang="es-ES" sz="300" b="1" dirty="0"/>
              <a:t>	</a:t>
            </a:r>
            <a:r>
              <a:rPr lang="es-ES" sz="300" dirty="0"/>
              <a:t>En aquella época, existían técnicas para vincular documentos electrónicos (hipervínculos) y un lenguaje llamado </a:t>
            </a:r>
            <a:r>
              <a:rPr lang="es-ES" sz="300" b="1" dirty="0"/>
              <a:t>SGML</a:t>
            </a:r>
            <a:r>
              <a:rPr lang="es-ES" sz="300" dirty="0"/>
              <a:t> (Standard </a:t>
            </a:r>
            <a:r>
              <a:rPr lang="es-ES" sz="300" dirty="0" err="1"/>
              <a:t>Generalized</a:t>
            </a:r>
            <a:r>
              <a:rPr lang="es-ES" sz="300" dirty="0"/>
              <a:t> </a:t>
            </a:r>
            <a:r>
              <a:rPr lang="es-ES" sz="300" dirty="0" err="1"/>
              <a:t>Markup</a:t>
            </a:r>
            <a:r>
              <a:rPr lang="es-ES" sz="300" dirty="0"/>
              <a:t> </a:t>
            </a:r>
            <a:r>
              <a:rPr lang="es-ES" sz="300" dirty="0" err="1"/>
              <a:t>Language</a:t>
            </a:r>
            <a:r>
              <a:rPr lang="es-ES" sz="300" dirty="0"/>
              <a:t>). Berners-Lee tomó estos conceptos y los combinó para desarrollar una herramienta de comunicación global.</a:t>
            </a:r>
          </a:p>
          <a:p>
            <a:pPr algn="just">
              <a:lnSpc>
                <a:spcPct val="150000"/>
              </a:lnSpc>
            </a:pPr>
            <a:endParaRPr lang="en-US" sz="300" dirty="0"/>
          </a:p>
        </p:txBody>
      </p:sp>
    </p:spTree>
    <p:extLst>
      <p:ext uri="{BB962C8B-B14F-4D97-AF65-F5344CB8AC3E}">
        <p14:creationId xmlns:p14="http://schemas.microsoft.com/office/powerpoint/2010/main" val="1698553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59508-ACE2-9939-6A83-8A33FED79B5B}"/>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DBF1D8D4-F734-BB9F-01B2-39137FAB2727}"/>
              </a:ext>
            </a:extLst>
          </p:cNvPr>
          <p:cNvSpPr txBox="1"/>
          <p:nvPr/>
        </p:nvSpPr>
        <p:spPr>
          <a:xfrm>
            <a:off x="0" y="-1594"/>
            <a:ext cx="1097756" cy="174791"/>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Historia</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5" name="4 CuadroTexto">
            <a:extLst>
              <a:ext uri="{FF2B5EF4-FFF2-40B4-BE49-F238E27FC236}">
                <a16:creationId xmlns:a16="http://schemas.microsoft.com/office/drawing/2014/main" id="{D299651F-2EA8-3B29-4B8F-A7AEA19FDA54}"/>
              </a:ext>
            </a:extLst>
          </p:cNvPr>
          <p:cNvSpPr txBox="1"/>
          <p:nvPr/>
        </p:nvSpPr>
        <p:spPr>
          <a:xfrm>
            <a:off x="0" y="118778"/>
            <a:ext cx="1227138" cy="725711"/>
          </a:xfrm>
          <a:prstGeom prst="rect">
            <a:avLst/>
          </a:prstGeom>
          <a:noFill/>
        </p:spPr>
        <p:txBody>
          <a:bodyPr wrap="square" rtlCol="0">
            <a:spAutoFit/>
          </a:bodyPr>
          <a:lstStyle/>
          <a:p>
            <a:pPr algn="just">
              <a:lnSpc>
                <a:spcPct val="200000"/>
              </a:lnSpc>
            </a:pPr>
            <a:r>
              <a:rPr lang="es-ES" sz="300" dirty="0"/>
              <a:t>	En </a:t>
            </a:r>
            <a:r>
              <a:rPr lang="es-ES" sz="300" b="1" dirty="0"/>
              <a:t>1989</a:t>
            </a:r>
            <a:r>
              <a:rPr lang="es-ES" sz="300" dirty="0"/>
              <a:t>, Berners-Lee definió formalmente las bases de la WWW, incluyendo el protocolo </a:t>
            </a:r>
            <a:r>
              <a:rPr lang="es-ES" sz="300" b="1" dirty="0"/>
              <a:t>HTTP</a:t>
            </a:r>
            <a:r>
              <a:rPr lang="es-ES" sz="300" dirty="0"/>
              <a:t> y el sistema de </a:t>
            </a:r>
            <a:r>
              <a:rPr lang="es-ES" sz="300" b="1" dirty="0"/>
              <a:t>URL</a:t>
            </a:r>
            <a:r>
              <a:rPr lang="es-ES" sz="300" dirty="0"/>
              <a:t>, junto con el lenguaje </a:t>
            </a:r>
            <a:r>
              <a:rPr lang="es-ES" sz="300" b="1" dirty="0"/>
              <a:t>HTML</a:t>
            </a:r>
            <a:r>
              <a:rPr lang="es-ES" sz="300" dirty="0"/>
              <a:t>.</a:t>
            </a:r>
          </a:p>
          <a:p>
            <a:pPr algn="just">
              <a:lnSpc>
                <a:spcPct val="200000"/>
              </a:lnSpc>
            </a:pPr>
            <a:r>
              <a:rPr lang="es-ES" sz="300" b="1" dirty="0"/>
              <a:t>	</a:t>
            </a:r>
            <a:r>
              <a:rPr lang="es-ES" sz="300" dirty="0"/>
              <a:t>La primera versión (1991) fue un lenguaje bastante sencillo que contaba con solo 18 etiquetas (13 de las cuales aún se conservan en la actualidad). Fue diseñado para ser fácil de interpretar tanto por humanos como por máquinas.</a:t>
            </a:r>
            <a:endParaRPr lang="en-US" sz="300" dirty="0"/>
          </a:p>
        </p:txBody>
      </p:sp>
    </p:spTree>
    <p:extLst>
      <p:ext uri="{BB962C8B-B14F-4D97-AF65-F5344CB8AC3E}">
        <p14:creationId xmlns:p14="http://schemas.microsoft.com/office/powerpoint/2010/main" val="2646708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A04F8-2F3F-F7F0-18ED-D191AF5498CD}"/>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B98842C2-FA90-F5B9-B86A-B778EFB1C066}"/>
              </a:ext>
            </a:extLst>
          </p:cNvPr>
          <p:cNvSpPr txBox="1"/>
          <p:nvPr/>
        </p:nvSpPr>
        <p:spPr>
          <a:xfrm>
            <a:off x="0" y="-1594"/>
            <a:ext cx="1227138" cy="174791"/>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Historia</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5" name="4 CuadroTexto">
            <a:extLst>
              <a:ext uri="{FF2B5EF4-FFF2-40B4-BE49-F238E27FC236}">
                <a16:creationId xmlns:a16="http://schemas.microsoft.com/office/drawing/2014/main" id="{7A90826B-86DC-BE9C-98AA-7425EF272380}"/>
              </a:ext>
            </a:extLst>
          </p:cNvPr>
          <p:cNvSpPr txBox="1"/>
          <p:nvPr/>
        </p:nvSpPr>
        <p:spPr>
          <a:xfrm>
            <a:off x="0" y="118778"/>
            <a:ext cx="1227138" cy="725711"/>
          </a:xfrm>
          <a:prstGeom prst="rect">
            <a:avLst/>
          </a:prstGeom>
          <a:noFill/>
        </p:spPr>
        <p:txBody>
          <a:bodyPr wrap="square" rtlCol="0">
            <a:spAutoFit/>
          </a:bodyPr>
          <a:lstStyle/>
          <a:p>
            <a:pPr algn="just">
              <a:lnSpc>
                <a:spcPct val="200000"/>
              </a:lnSpc>
            </a:pPr>
            <a:r>
              <a:rPr lang="es-ES" sz="300" dirty="0"/>
              <a:t>	El lenguaje tuvo que evolucionar para satisfacer nuevas necesidades, pasando de ser una herramienta de intercambio científico a un estándar global.</a:t>
            </a:r>
          </a:p>
          <a:p>
            <a:pPr algn="just">
              <a:lnSpc>
                <a:spcPct val="200000"/>
              </a:lnSpc>
            </a:pPr>
            <a:endParaRPr lang="es-ES" sz="300" dirty="0"/>
          </a:p>
          <a:p>
            <a:pPr algn="just">
              <a:lnSpc>
                <a:spcPct val="200000"/>
              </a:lnSpc>
            </a:pPr>
            <a:r>
              <a:rPr lang="es-ES" sz="300" b="1" dirty="0"/>
              <a:t>	</a:t>
            </a:r>
            <a:r>
              <a:rPr lang="es-ES" sz="300" dirty="0"/>
              <a:t>HTML 2.0 (1995) fue la primera gran petición de estandarización, ya que para aquel entonces la web empezaba a masificarse y se requerían reglas comunes.</a:t>
            </a:r>
          </a:p>
        </p:txBody>
      </p:sp>
    </p:spTree>
    <p:extLst>
      <p:ext uri="{BB962C8B-B14F-4D97-AF65-F5344CB8AC3E}">
        <p14:creationId xmlns:p14="http://schemas.microsoft.com/office/powerpoint/2010/main" val="2427479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9D1AD-10B3-A24F-3DED-1F4167F9DBB7}"/>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EF589801-79DC-C5CD-9F01-45D9C4A24198}"/>
              </a:ext>
            </a:extLst>
          </p:cNvPr>
          <p:cNvSpPr txBox="1"/>
          <p:nvPr/>
        </p:nvSpPr>
        <p:spPr>
          <a:xfrm>
            <a:off x="-1" y="-1594"/>
            <a:ext cx="1227137" cy="174791"/>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Historia</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5" name="4 CuadroTexto">
            <a:extLst>
              <a:ext uri="{FF2B5EF4-FFF2-40B4-BE49-F238E27FC236}">
                <a16:creationId xmlns:a16="http://schemas.microsoft.com/office/drawing/2014/main" id="{04603F3A-3096-3EEF-6CF2-163F8BD0AA6E}"/>
              </a:ext>
            </a:extLst>
          </p:cNvPr>
          <p:cNvSpPr txBox="1"/>
          <p:nvPr/>
        </p:nvSpPr>
        <p:spPr>
          <a:xfrm>
            <a:off x="0" y="118778"/>
            <a:ext cx="1227138" cy="818044"/>
          </a:xfrm>
          <a:prstGeom prst="rect">
            <a:avLst/>
          </a:prstGeom>
          <a:noFill/>
        </p:spPr>
        <p:txBody>
          <a:bodyPr wrap="square" rtlCol="0">
            <a:spAutoFit/>
          </a:bodyPr>
          <a:lstStyle/>
          <a:p>
            <a:pPr algn="just">
              <a:lnSpc>
                <a:spcPct val="200000"/>
              </a:lnSpc>
            </a:pPr>
            <a:r>
              <a:rPr lang="es-ES" sz="300" dirty="0"/>
              <a:t>	En octubre de 1994 se fundó el </a:t>
            </a:r>
            <a:r>
              <a:rPr lang="es-ES" sz="300" b="1" dirty="0"/>
              <a:t>W3C (</a:t>
            </a:r>
            <a:r>
              <a:rPr lang="es-ES" sz="300" b="1" dirty="0" err="1"/>
              <a:t>World</a:t>
            </a:r>
            <a:r>
              <a:rPr lang="es-ES" sz="300" b="1" dirty="0"/>
              <a:t> Wide Web </a:t>
            </a:r>
            <a:r>
              <a:rPr lang="es-ES" sz="300" b="1" dirty="0" err="1"/>
              <a:t>Consortium</a:t>
            </a:r>
            <a:r>
              <a:rPr lang="es-ES" sz="300" b="1" dirty="0"/>
              <a:t>)</a:t>
            </a:r>
            <a:r>
              <a:rPr lang="es-ES" sz="300" dirty="0"/>
              <a:t>, la organización encargada de definir y mantener los estándares de HTML hasta nuestros días.</a:t>
            </a:r>
          </a:p>
          <a:p>
            <a:pPr algn="just">
              <a:lnSpc>
                <a:spcPct val="200000"/>
              </a:lnSpc>
            </a:pPr>
            <a:r>
              <a:rPr lang="es-ES" sz="300" dirty="0"/>
              <a:t>	A partir de mediados de los años 90, con la llegada de navegadores como Mosaic y posteriormente Netscape, la web dejó de ser exclusiva para científicos y se abrió al público general, integrándose posteriormente con otras tecnologías como JavaScript y CSS.</a:t>
            </a:r>
            <a:endParaRPr lang="es-VE" sz="300" dirty="0"/>
          </a:p>
        </p:txBody>
      </p:sp>
    </p:spTree>
    <p:extLst>
      <p:ext uri="{BB962C8B-B14F-4D97-AF65-F5344CB8AC3E}">
        <p14:creationId xmlns:p14="http://schemas.microsoft.com/office/powerpoint/2010/main" val="1582920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23EAD-95B6-E404-5D1B-D0CD38D22956}"/>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64FD683B-7FF7-8E42-A3FF-298DCF437991}"/>
              </a:ext>
            </a:extLst>
          </p:cNvPr>
          <p:cNvSpPr txBox="1"/>
          <p:nvPr/>
        </p:nvSpPr>
        <p:spPr>
          <a:xfrm>
            <a:off x="0" y="-1594"/>
            <a:ext cx="1227138" cy="172098"/>
          </a:xfrm>
          <a:prstGeom prst="rect">
            <a:avLst/>
          </a:prstGeom>
          <a:noFill/>
        </p:spPr>
        <p:txBody>
          <a:bodyPr wrap="square" rtlCol="0">
            <a:spAutoFit/>
          </a:bodyPr>
          <a:lstStyle/>
          <a:p>
            <a:pPr algn="ctr">
              <a:lnSpc>
                <a:spcPct val="150000"/>
              </a:lnSpc>
            </a:pP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BOOTSTRAP LOCAL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5" name="4 CuadroTexto">
            <a:extLst>
              <a:ext uri="{FF2B5EF4-FFF2-40B4-BE49-F238E27FC236}">
                <a16:creationId xmlns:a16="http://schemas.microsoft.com/office/drawing/2014/main" id="{BD730E3D-A3B0-5F05-B6BA-2BC280FC69FA}"/>
              </a:ext>
            </a:extLst>
          </p:cNvPr>
          <p:cNvSpPr txBox="1"/>
          <p:nvPr/>
        </p:nvSpPr>
        <p:spPr>
          <a:xfrm>
            <a:off x="0" y="118778"/>
            <a:ext cx="1227138" cy="777649"/>
          </a:xfrm>
          <a:prstGeom prst="rect">
            <a:avLst/>
          </a:prstGeom>
          <a:noFill/>
        </p:spPr>
        <p:txBody>
          <a:bodyPr wrap="square" rtlCol="0">
            <a:spAutoFit/>
          </a:bodyPr>
          <a:lstStyle/>
          <a:p>
            <a:pPr marL="88900" indent="-88900" algn="just">
              <a:lnSpc>
                <a:spcPct val="150000"/>
              </a:lnSpc>
              <a:buFont typeface="Wingdings" panose="05000000000000000000" pitchFamily="2" charset="2"/>
              <a:buChar char="ü"/>
            </a:pPr>
            <a:r>
              <a:rPr lang="es-ES" sz="300" dirty="0"/>
              <a:t>De la carpeta </a:t>
            </a:r>
            <a:r>
              <a:rPr lang="es-ES" sz="300" b="1" dirty="0" err="1"/>
              <a:t>css</a:t>
            </a:r>
            <a:r>
              <a:rPr lang="es-ES" sz="300" dirty="0"/>
              <a:t>, el único archivo que realmente necesitamos para arrancar es </a:t>
            </a:r>
            <a:r>
              <a:rPr lang="es-ES" sz="300" b="1" dirty="0"/>
              <a:t>bootstrap.min.css</a:t>
            </a:r>
            <a:r>
              <a:rPr lang="es-ES" sz="300" dirty="0"/>
              <a:t>.</a:t>
            </a:r>
          </a:p>
          <a:p>
            <a:pPr algn="just">
              <a:lnSpc>
                <a:spcPct val="150000"/>
              </a:lnSpc>
            </a:pPr>
            <a:endParaRPr lang="es-ES" sz="300" dirty="0"/>
          </a:p>
          <a:p>
            <a:pPr marL="88900" indent="-88900" algn="just">
              <a:lnSpc>
                <a:spcPct val="150000"/>
              </a:lnSpc>
              <a:buFont typeface="Wingdings" panose="05000000000000000000" pitchFamily="2" charset="2"/>
              <a:buChar char="ü"/>
            </a:pPr>
            <a:r>
              <a:rPr lang="es-ES" sz="300" dirty="0"/>
              <a:t>De la carpeta </a:t>
            </a:r>
            <a:r>
              <a:rPr lang="es-ES" sz="300" b="1" dirty="0" err="1"/>
              <a:t>js</a:t>
            </a:r>
            <a:r>
              <a:rPr lang="es-ES" sz="300" dirty="0"/>
              <a:t>, el archivo es </a:t>
            </a:r>
            <a:r>
              <a:rPr lang="es-VE" sz="300" b="1" dirty="0"/>
              <a:t>bootstrap.bundle.min.js </a:t>
            </a:r>
            <a:r>
              <a:rPr lang="es-ES" sz="300" dirty="0"/>
              <a:t>para que funcionen los menús desplegables, modales y </a:t>
            </a:r>
            <a:r>
              <a:rPr lang="es-ES" sz="300" dirty="0" err="1"/>
              <a:t>tooltips</a:t>
            </a:r>
            <a:r>
              <a:rPr lang="es-ES" sz="300" dirty="0"/>
              <a:t>.</a:t>
            </a:r>
          </a:p>
          <a:p>
            <a:pPr marL="88900" indent="-88900" algn="just">
              <a:lnSpc>
                <a:spcPct val="150000"/>
              </a:lnSpc>
              <a:buFont typeface="Wingdings" panose="05000000000000000000" pitchFamily="2" charset="2"/>
              <a:buChar char="ü"/>
            </a:pPr>
            <a:endParaRPr lang="es-ES" sz="300" b="1" dirty="0"/>
          </a:p>
          <a:p>
            <a:pPr algn="just">
              <a:lnSpc>
                <a:spcPct val="150000"/>
              </a:lnSpc>
            </a:pPr>
            <a:r>
              <a:rPr lang="es-ES" sz="300" dirty="0"/>
              <a:t>	Es importante respetar las minúsculas y mayúsculas en los nombres de las carpetas y archivos, ya que algunos entornos de desarrollo o servidores web son estrictos y, si no coinciden, no cargarán los estilos de forma local.</a:t>
            </a:r>
            <a:endParaRPr lang="es-ES" sz="300" b="1" dirty="0"/>
          </a:p>
        </p:txBody>
      </p:sp>
    </p:spTree>
    <p:extLst>
      <p:ext uri="{BB962C8B-B14F-4D97-AF65-F5344CB8AC3E}">
        <p14:creationId xmlns:p14="http://schemas.microsoft.com/office/powerpoint/2010/main" val="1608289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21B37-FBC2-A150-D546-4363040B8E84}"/>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54A8316F-902B-FCEA-076C-B22590108B1A}"/>
              </a:ext>
            </a:extLst>
          </p:cNvPr>
          <p:cNvSpPr txBox="1"/>
          <p:nvPr/>
        </p:nvSpPr>
        <p:spPr>
          <a:xfrm>
            <a:off x="0" y="-1594"/>
            <a:ext cx="1227138" cy="172098"/>
          </a:xfrm>
          <a:prstGeom prst="rect">
            <a:avLst/>
          </a:prstGeom>
          <a:noFill/>
        </p:spPr>
        <p:txBody>
          <a:bodyPr wrap="square" rtlCol="0">
            <a:spAutoFit/>
          </a:bodyPr>
          <a:lstStyle/>
          <a:p>
            <a:pPr algn="ctr">
              <a:lnSpc>
                <a:spcPct val="150000"/>
              </a:lnSpc>
            </a:pPr>
            <a:r>
              <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Etiquetas en HTML</a:t>
            </a:r>
          </a:p>
        </p:txBody>
      </p:sp>
      <p:sp>
        <p:nvSpPr>
          <p:cNvPr id="5" name="4 CuadroTexto">
            <a:extLst>
              <a:ext uri="{FF2B5EF4-FFF2-40B4-BE49-F238E27FC236}">
                <a16:creationId xmlns:a16="http://schemas.microsoft.com/office/drawing/2014/main" id="{316BD882-372F-977B-53FF-9F7BC0EA9AEE}"/>
              </a:ext>
            </a:extLst>
          </p:cNvPr>
          <p:cNvSpPr txBox="1"/>
          <p:nvPr/>
        </p:nvSpPr>
        <p:spPr>
          <a:xfrm>
            <a:off x="0" y="118778"/>
            <a:ext cx="1227138" cy="818044"/>
          </a:xfrm>
          <a:prstGeom prst="rect">
            <a:avLst/>
          </a:prstGeom>
          <a:noFill/>
        </p:spPr>
        <p:txBody>
          <a:bodyPr wrap="square" rtlCol="0">
            <a:spAutoFit/>
          </a:bodyPr>
          <a:lstStyle/>
          <a:p>
            <a:pPr algn="just">
              <a:lnSpc>
                <a:spcPct val="200000"/>
              </a:lnSpc>
            </a:pPr>
            <a:r>
              <a:rPr lang="es-ES" sz="300" dirty="0"/>
              <a:t>	Son códigos utilizados para "marcar" el contenido de una página web, con el fin de dar instrucciones al navegador sobre cómo mostrarlo. Son el lenguaje utilizado para estructurar y definir el contenido en un documento HTML. </a:t>
            </a:r>
          </a:p>
          <a:p>
            <a:pPr algn="just">
              <a:lnSpc>
                <a:spcPct val="200000"/>
              </a:lnSpc>
            </a:pPr>
            <a:endParaRPr lang="es-ES" sz="300" dirty="0"/>
          </a:p>
          <a:p>
            <a:pPr algn="just">
              <a:lnSpc>
                <a:spcPct val="200000"/>
              </a:lnSpc>
            </a:pPr>
            <a:r>
              <a:rPr lang="es-ES" sz="300" dirty="0"/>
              <a:t>	Cada etiqueta contiene instrucciones que indican al navegador cómo dar formato al contenido y cómo definir los diversos elementos de la página web.</a:t>
            </a:r>
          </a:p>
        </p:txBody>
      </p:sp>
    </p:spTree>
    <p:extLst>
      <p:ext uri="{BB962C8B-B14F-4D97-AF65-F5344CB8AC3E}">
        <p14:creationId xmlns:p14="http://schemas.microsoft.com/office/powerpoint/2010/main" val="1996536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10CCB-249A-3CC1-B4A1-D2C173620804}"/>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1B87D7D4-F313-8D05-F97A-35A20CA757BB}"/>
              </a:ext>
            </a:extLst>
          </p:cNvPr>
          <p:cNvSpPr txBox="1"/>
          <p:nvPr/>
        </p:nvSpPr>
        <p:spPr>
          <a:xfrm>
            <a:off x="0" y="-1594"/>
            <a:ext cx="1227138" cy="172098"/>
          </a:xfrm>
          <a:prstGeom prst="rect">
            <a:avLst/>
          </a:prstGeom>
          <a:noFill/>
        </p:spPr>
        <p:txBody>
          <a:bodyPr wrap="square" rtlCol="0">
            <a:spAutoFit/>
          </a:bodyPr>
          <a:lstStyle/>
          <a:p>
            <a:pPr algn="ctr">
              <a:lnSpc>
                <a:spcPct val="150000"/>
              </a:lnSpc>
            </a:pP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Etiquetas </a:t>
            </a:r>
            <a:r>
              <a:rPr lang="pt-BR" sz="400" dirty="0" err="1">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en</a:t>
            </a: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5" name="4 CuadroTexto">
            <a:extLst>
              <a:ext uri="{FF2B5EF4-FFF2-40B4-BE49-F238E27FC236}">
                <a16:creationId xmlns:a16="http://schemas.microsoft.com/office/drawing/2014/main" id="{50E0C129-BFBD-2E86-7A95-5FB0B3FA9DB9}"/>
              </a:ext>
            </a:extLst>
          </p:cNvPr>
          <p:cNvSpPr txBox="1"/>
          <p:nvPr/>
        </p:nvSpPr>
        <p:spPr>
          <a:xfrm>
            <a:off x="0" y="118778"/>
            <a:ext cx="1227138" cy="541046"/>
          </a:xfrm>
          <a:prstGeom prst="rect">
            <a:avLst/>
          </a:prstGeom>
          <a:noFill/>
        </p:spPr>
        <p:txBody>
          <a:bodyPr wrap="square" rtlCol="0">
            <a:spAutoFit/>
          </a:bodyPr>
          <a:lstStyle/>
          <a:p>
            <a:pPr algn="just">
              <a:lnSpc>
                <a:spcPct val="200000"/>
              </a:lnSpc>
            </a:pPr>
            <a:r>
              <a:rPr lang="es-ES" sz="300" dirty="0"/>
              <a:t>	Al aplicar estas etiquetas de marcado a los diferentes elementos del contenido, se indica al navegador cómo mostrarlos al usuario, lo que permite crear páginas web estructuradas y con un diseño coherente.</a:t>
            </a:r>
          </a:p>
          <a:p>
            <a:pPr algn="just">
              <a:lnSpc>
                <a:spcPct val="200000"/>
              </a:lnSpc>
            </a:pPr>
            <a:r>
              <a:rPr lang="es-ES" sz="300" b="1" dirty="0"/>
              <a:t>	</a:t>
            </a:r>
            <a:endParaRPr lang="es-ES" sz="300" b="1" dirty="0">
              <a:solidFill>
                <a:srgbClr val="0070C0"/>
              </a:solidFill>
            </a:endParaRPr>
          </a:p>
        </p:txBody>
      </p:sp>
    </p:spTree>
    <p:extLst>
      <p:ext uri="{BB962C8B-B14F-4D97-AF65-F5344CB8AC3E}">
        <p14:creationId xmlns:p14="http://schemas.microsoft.com/office/powerpoint/2010/main" val="374278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EC93A-722B-920E-61B9-943A1A9BF99D}"/>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1D4DA536-F121-472D-B04E-0F10FB32D864}"/>
              </a:ext>
            </a:extLst>
          </p:cNvPr>
          <p:cNvSpPr txBox="1"/>
          <p:nvPr/>
        </p:nvSpPr>
        <p:spPr>
          <a:xfrm>
            <a:off x="0" y="-1594"/>
            <a:ext cx="1227138" cy="172098"/>
          </a:xfrm>
          <a:prstGeom prst="rect">
            <a:avLst/>
          </a:prstGeom>
          <a:noFill/>
        </p:spPr>
        <p:txBody>
          <a:bodyPr wrap="square" rtlCol="0">
            <a:spAutoFit/>
          </a:bodyPr>
          <a:lstStyle/>
          <a:p>
            <a:pPr algn="ctr">
              <a:lnSpc>
                <a:spcPct val="150000"/>
              </a:lnSpc>
            </a:pP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Etiquetas </a:t>
            </a:r>
            <a:r>
              <a:rPr lang="pt-BR" sz="400" dirty="0" err="1">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en</a:t>
            </a: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7" name="CuadroTexto 6">
            <a:extLst>
              <a:ext uri="{FF2B5EF4-FFF2-40B4-BE49-F238E27FC236}">
                <a16:creationId xmlns:a16="http://schemas.microsoft.com/office/drawing/2014/main" id="{D5BA082C-0D0F-3922-BB99-3EE6BCFBDFCA}"/>
              </a:ext>
            </a:extLst>
          </p:cNvPr>
          <p:cNvSpPr txBox="1"/>
          <p:nvPr/>
        </p:nvSpPr>
        <p:spPr>
          <a:xfrm>
            <a:off x="0" y="119634"/>
            <a:ext cx="1227138" cy="541046"/>
          </a:xfrm>
          <a:prstGeom prst="rect">
            <a:avLst/>
          </a:prstGeom>
          <a:noFill/>
        </p:spPr>
        <p:txBody>
          <a:bodyPr wrap="square">
            <a:spAutoFit/>
          </a:bodyPr>
          <a:lstStyle/>
          <a:p>
            <a:pPr lvl="1" algn="just">
              <a:lnSpc>
                <a:spcPct val="200000"/>
              </a:lnSpc>
            </a:pPr>
            <a:r>
              <a:rPr lang="es-ES" sz="300" b="1" dirty="0"/>
              <a:t>	¿Para qué sirven las etiquetas HTML?</a:t>
            </a:r>
            <a:r>
              <a:rPr lang="es-ES" sz="300" dirty="0"/>
              <a:t> Para aplicar cursivas, crear saltos de línea, insertar objetos multimedia, crear listas con viñetas o para definir diferentes tipos de contenido, como encabezados, párrafos, imágenes, enlaces, formularios y mucho más.</a:t>
            </a:r>
            <a:endParaRPr lang="es-VE" sz="300" dirty="0"/>
          </a:p>
        </p:txBody>
      </p:sp>
    </p:spTree>
    <p:extLst>
      <p:ext uri="{BB962C8B-B14F-4D97-AF65-F5344CB8AC3E}">
        <p14:creationId xmlns:p14="http://schemas.microsoft.com/office/powerpoint/2010/main" val="1321501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C0E96-1ED6-CD4A-DE39-3486551425EE}"/>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548A2B21-9EA5-9B75-BA55-366EF00D243F}"/>
              </a:ext>
            </a:extLst>
          </p:cNvPr>
          <p:cNvSpPr txBox="1"/>
          <p:nvPr/>
        </p:nvSpPr>
        <p:spPr>
          <a:xfrm>
            <a:off x="0" y="-1594"/>
            <a:ext cx="1227138" cy="172098"/>
          </a:xfrm>
          <a:prstGeom prst="rect">
            <a:avLst/>
          </a:prstGeom>
          <a:noFill/>
        </p:spPr>
        <p:txBody>
          <a:bodyPr wrap="square" rtlCol="0">
            <a:spAutoFit/>
          </a:bodyPr>
          <a:lstStyle/>
          <a:p>
            <a:pPr algn="ctr">
              <a:lnSpc>
                <a:spcPct val="150000"/>
              </a:lnSpc>
            </a:pP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Etiquetas </a:t>
            </a:r>
            <a:r>
              <a:rPr lang="pt-BR" sz="400" dirty="0" err="1">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en</a:t>
            </a: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7" name="CuadroTexto 6">
            <a:extLst>
              <a:ext uri="{FF2B5EF4-FFF2-40B4-BE49-F238E27FC236}">
                <a16:creationId xmlns:a16="http://schemas.microsoft.com/office/drawing/2014/main" id="{B1A38FF0-74BE-3020-5E81-DC195AB256EE}"/>
              </a:ext>
            </a:extLst>
          </p:cNvPr>
          <p:cNvSpPr txBox="1"/>
          <p:nvPr/>
        </p:nvSpPr>
        <p:spPr>
          <a:xfrm>
            <a:off x="0" y="117255"/>
            <a:ext cx="1227138" cy="633379"/>
          </a:xfrm>
          <a:prstGeom prst="rect">
            <a:avLst/>
          </a:prstGeom>
          <a:noFill/>
        </p:spPr>
        <p:txBody>
          <a:bodyPr wrap="square">
            <a:spAutoFit/>
          </a:bodyPr>
          <a:lstStyle/>
          <a:p>
            <a:pPr lvl="1" algn="just">
              <a:lnSpc>
                <a:spcPct val="200000"/>
              </a:lnSpc>
            </a:pPr>
            <a:r>
              <a:rPr lang="es-ES" sz="300" b="1" dirty="0"/>
              <a:t>	¿Cómo leen las páginas web las etiquetas HTML?</a:t>
            </a:r>
            <a:r>
              <a:rPr lang="es-ES" sz="300" dirty="0"/>
              <a:t> Los sitios web leen el código HTML para entender y mostrar el contenido desde arriba hacia abajo, de forma muy parecida a como se lee este texto. Se pueden utilizar tantas o tan pocas etiquetas como se requieran para dar formato al contenido, sin embargo, hay algunas reglas y etiquetas HTML esenciales que deberás seguir.</a:t>
            </a:r>
            <a:endParaRPr lang="es-VE" sz="300" dirty="0"/>
          </a:p>
        </p:txBody>
      </p:sp>
    </p:spTree>
    <p:extLst>
      <p:ext uri="{BB962C8B-B14F-4D97-AF65-F5344CB8AC3E}">
        <p14:creationId xmlns:p14="http://schemas.microsoft.com/office/powerpoint/2010/main" val="2621477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38BF6-6862-59FD-238C-993BA9C94BD6}"/>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C17259EF-C6E3-E362-0F4E-C37D4B65BDEF}"/>
              </a:ext>
            </a:extLst>
          </p:cNvPr>
          <p:cNvSpPr txBox="1"/>
          <p:nvPr/>
        </p:nvSpPr>
        <p:spPr>
          <a:xfrm>
            <a:off x="0" y="-1594"/>
            <a:ext cx="1227138" cy="172098"/>
          </a:xfrm>
          <a:prstGeom prst="rect">
            <a:avLst/>
          </a:prstGeom>
          <a:noFill/>
        </p:spPr>
        <p:txBody>
          <a:bodyPr wrap="square" rtlCol="0">
            <a:spAutoFit/>
          </a:bodyPr>
          <a:lstStyle/>
          <a:p>
            <a:pPr algn="ctr">
              <a:lnSpc>
                <a:spcPct val="150000"/>
              </a:lnSpc>
            </a:pP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Etiquetas </a:t>
            </a:r>
            <a:r>
              <a:rPr lang="pt-BR" sz="400" dirty="0" err="1">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en</a:t>
            </a: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7" name="CuadroTexto 6">
            <a:extLst>
              <a:ext uri="{FF2B5EF4-FFF2-40B4-BE49-F238E27FC236}">
                <a16:creationId xmlns:a16="http://schemas.microsoft.com/office/drawing/2014/main" id="{4CEC950E-CC26-2ABF-353D-9BF442A3970C}"/>
              </a:ext>
            </a:extLst>
          </p:cNvPr>
          <p:cNvSpPr txBox="1"/>
          <p:nvPr/>
        </p:nvSpPr>
        <p:spPr>
          <a:xfrm>
            <a:off x="0" y="117255"/>
            <a:ext cx="1227138" cy="725711"/>
          </a:xfrm>
          <a:prstGeom prst="rect">
            <a:avLst/>
          </a:prstGeom>
          <a:noFill/>
        </p:spPr>
        <p:txBody>
          <a:bodyPr wrap="square">
            <a:spAutoFit/>
          </a:bodyPr>
          <a:lstStyle/>
          <a:p>
            <a:pPr lvl="1" algn="just">
              <a:lnSpc>
                <a:spcPct val="200000"/>
              </a:lnSpc>
            </a:pPr>
            <a:r>
              <a:rPr lang="es-ES" sz="300" b="1" dirty="0"/>
              <a:t>		Partes de una etiqueta HTML:</a:t>
            </a:r>
          </a:p>
          <a:p>
            <a:pPr marL="88900" lvl="1" indent="-88900" algn="just">
              <a:lnSpc>
                <a:spcPct val="200000"/>
              </a:lnSpc>
              <a:buFont typeface="Wingdings" panose="05000000000000000000" pitchFamily="2" charset="2"/>
              <a:buChar char="ü"/>
            </a:pPr>
            <a:r>
              <a:rPr lang="es-ES" sz="300" b="1" dirty="0"/>
              <a:t>Apertura: </a:t>
            </a:r>
            <a:r>
              <a:rPr lang="es-ES" sz="300" dirty="0"/>
              <a:t>Empieza con el símbolo de menor qué (&lt;) o menor qué seguido de una barra diagonal (&lt;/) en caso de la apertura de una etiqueta de cierre.</a:t>
            </a:r>
          </a:p>
          <a:p>
            <a:pPr marL="88900" lvl="1" indent="-88900" algn="just">
              <a:lnSpc>
                <a:spcPct val="200000"/>
              </a:lnSpc>
              <a:buFont typeface="Wingdings" panose="05000000000000000000" pitchFamily="2" charset="2"/>
              <a:buChar char="ü"/>
            </a:pPr>
            <a:r>
              <a:rPr lang="es-ES" sz="300" b="1" dirty="0"/>
              <a:t>Nombre: </a:t>
            </a:r>
            <a:r>
              <a:rPr lang="es-ES" sz="300" dirty="0"/>
              <a:t>Define lo que mostrará en el sitio web.</a:t>
            </a:r>
          </a:p>
          <a:p>
            <a:pPr marL="88900" lvl="1" indent="-88900" algn="just">
              <a:lnSpc>
                <a:spcPct val="200000"/>
              </a:lnSpc>
              <a:buFont typeface="Wingdings" panose="05000000000000000000" pitchFamily="2" charset="2"/>
              <a:buChar char="ü"/>
            </a:pPr>
            <a:r>
              <a:rPr lang="es-ES" sz="300" b="1" dirty="0"/>
              <a:t>Cierre: </a:t>
            </a:r>
            <a:r>
              <a:rPr lang="es-ES" sz="300" dirty="0"/>
              <a:t>Termina con el símbolo de mayor qué (&gt;).</a:t>
            </a:r>
          </a:p>
          <a:p>
            <a:pPr marL="0" lvl="1" algn="just">
              <a:lnSpc>
                <a:spcPct val="200000"/>
              </a:lnSpc>
            </a:pPr>
            <a:r>
              <a:rPr lang="es-ES" sz="300" dirty="0"/>
              <a:t>	Ejemplos: </a:t>
            </a:r>
            <a:r>
              <a:rPr lang="es-ES" sz="300" b="1" dirty="0"/>
              <a:t>&lt;h1&gt;, &lt;b&gt;, &lt;</a:t>
            </a:r>
            <a:r>
              <a:rPr lang="es-ES" sz="300" b="1" dirty="0" err="1"/>
              <a:t>span</a:t>
            </a:r>
            <a:r>
              <a:rPr lang="es-ES" sz="300" b="1" dirty="0"/>
              <a:t>&gt;, &lt;i&gt;, &lt;</a:t>
            </a:r>
            <a:r>
              <a:rPr lang="es-ES" sz="300" b="1" dirty="0" err="1"/>
              <a:t>img</a:t>
            </a:r>
            <a:r>
              <a:rPr lang="es-ES" sz="300" b="1" dirty="0"/>
              <a:t>&gt;, &lt;</a:t>
            </a:r>
            <a:r>
              <a:rPr lang="es-ES" sz="300" b="1" dirty="0" err="1"/>
              <a:t>iframe</a:t>
            </a:r>
            <a:r>
              <a:rPr lang="es-ES" sz="300" b="1" dirty="0"/>
              <a:t>&gt;, &lt;</a:t>
            </a:r>
            <a:r>
              <a:rPr lang="es-ES" sz="300" b="1" dirty="0" err="1"/>
              <a:t>br</a:t>
            </a:r>
            <a:r>
              <a:rPr lang="es-ES" sz="300" b="1" dirty="0"/>
              <a:t>&gt;</a:t>
            </a:r>
            <a:endParaRPr lang="es-VE" sz="300" b="1" dirty="0"/>
          </a:p>
        </p:txBody>
      </p:sp>
    </p:spTree>
    <p:extLst>
      <p:ext uri="{BB962C8B-B14F-4D97-AF65-F5344CB8AC3E}">
        <p14:creationId xmlns:p14="http://schemas.microsoft.com/office/powerpoint/2010/main" val="3505145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3F5D4-CEDA-95A2-5016-8716193101B4}"/>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ECA59FFF-8833-7592-DDCB-42D648F61967}"/>
              </a:ext>
            </a:extLst>
          </p:cNvPr>
          <p:cNvSpPr txBox="1"/>
          <p:nvPr/>
        </p:nvSpPr>
        <p:spPr>
          <a:xfrm>
            <a:off x="0" y="-1594"/>
            <a:ext cx="1227138" cy="172098"/>
          </a:xfrm>
          <a:prstGeom prst="rect">
            <a:avLst/>
          </a:prstGeom>
          <a:noFill/>
        </p:spPr>
        <p:txBody>
          <a:bodyPr wrap="square" rtlCol="0">
            <a:spAutoFit/>
          </a:bodyPr>
          <a:lstStyle/>
          <a:p>
            <a:pPr algn="ctr">
              <a:lnSpc>
                <a:spcPct val="150000"/>
              </a:lnSpc>
            </a:pP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Etiquetas </a:t>
            </a:r>
            <a:r>
              <a:rPr lang="pt-BR" sz="400" dirty="0" err="1">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en</a:t>
            </a: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7" name="CuadroTexto 6">
            <a:extLst>
              <a:ext uri="{FF2B5EF4-FFF2-40B4-BE49-F238E27FC236}">
                <a16:creationId xmlns:a16="http://schemas.microsoft.com/office/drawing/2014/main" id="{C7A00734-6D54-9BEA-82C7-1FDEDC4B4628}"/>
              </a:ext>
            </a:extLst>
          </p:cNvPr>
          <p:cNvSpPr txBox="1"/>
          <p:nvPr/>
        </p:nvSpPr>
        <p:spPr>
          <a:xfrm>
            <a:off x="0" y="117255"/>
            <a:ext cx="1227138" cy="725711"/>
          </a:xfrm>
          <a:prstGeom prst="rect">
            <a:avLst/>
          </a:prstGeom>
          <a:noFill/>
        </p:spPr>
        <p:txBody>
          <a:bodyPr wrap="square">
            <a:spAutoFit/>
          </a:bodyPr>
          <a:lstStyle/>
          <a:p>
            <a:pPr lvl="1" algn="just">
              <a:lnSpc>
                <a:spcPct val="200000"/>
              </a:lnSpc>
            </a:pPr>
            <a:r>
              <a:rPr lang="es-ES" sz="300" b="1" dirty="0"/>
              <a:t>	Detalle Importante sobre el cierre de las etiquetas:</a:t>
            </a:r>
            <a:r>
              <a:rPr lang="es-ES" sz="300" dirty="0"/>
              <a:t> Algunas etiquetas no necesitan etiqueta de cierre, en estos casos lo recomendable es solo usar la etiqueta de apertura. </a:t>
            </a:r>
          </a:p>
          <a:p>
            <a:pPr lvl="1" algn="just">
              <a:lnSpc>
                <a:spcPct val="200000"/>
              </a:lnSpc>
            </a:pPr>
            <a:r>
              <a:rPr lang="es-ES" sz="300" dirty="0"/>
              <a:t>	Estas etiquetas sin cierre generalmente se usan para metadatos, saltos de línea o para definir elementos vacíos que no pueden contener texto. </a:t>
            </a:r>
          </a:p>
          <a:p>
            <a:pPr lvl="1" algn="just">
              <a:lnSpc>
                <a:spcPct val="200000"/>
              </a:lnSpc>
            </a:pPr>
            <a:r>
              <a:rPr lang="es-ES" sz="300" dirty="0"/>
              <a:t>Ejemplos: </a:t>
            </a:r>
            <a:r>
              <a:rPr lang="es-ES" sz="300" b="1" dirty="0"/>
              <a:t>&lt;</a:t>
            </a:r>
            <a:r>
              <a:rPr lang="es-ES" sz="300" b="1" dirty="0" err="1"/>
              <a:t>br</a:t>
            </a:r>
            <a:r>
              <a:rPr lang="es-ES" sz="300" b="1" dirty="0"/>
              <a:t>&gt;, &lt;</a:t>
            </a:r>
            <a:r>
              <a:rPr lang="es-ES" sz="300" b="1" dirty="0" err="1"/>
              <a:t>hr</a:t>
            </a:r>
            <a:r>
              <a:rPr lang="es-ES" sz="300" b="1" dirty="0"/>
              <a:t>&gt;, &lt;link&gt;, &lt;</a:t>
            </a:r>
            <a:r>
              <a:rPr lang="es-ES" sz="300" b="1" dirty="0" err="1"/>
              <a:t>img</a:t>
            </a:r>
            <a:r>
              <a:rPr lang="es-ES" sz="300" b="1" dirty="0"/>
              <a:t>&gt;, &lt;input&gt;</a:t>
            </a:r>
            <a:endParaRPr lang="es-VE" sz="300" b="1" dirty="0"/>
          </a:p>
        </p:txBody>
      </p:sp>
    </p:spTree>
    <p:extLst>
      <p:ext uri="{BB962C8B-B14F-4D97-AF65-F5344CB8AC3E}">
        <p14:creationId xmlns:p14="http://schemas.microsoft.com/office/powerpoint/2010/main" val="272460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EC56C-9D61-EE31-4580-21035BEEC82A}"/>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9FFE563A-5FC9-E8A8-5903-0B465EA85895}"/>
              </a:ext>
            </a:extLst>
          </p:cNvPr>
          <p:cNvSpPr txBox="1"/>
          <p:nvPr/>
        </p:nvSpPr>
        <p:spPr>
          <a:xfrm>
            <a:off x="0" y="-1594"/>
            <a:ext cx="1227138" cy="172098"/>
          </a:xfrm>
          <a:prstGeom prst="rect">
            <a:avLst/>
          </a:prstGeom>
          <a:noFill/>
        </p:spPr>
        <p:txBody>
          <a:bodyPr wrap="square" rtlCol="0">
            <a:spAutoFit/>
          </a:bodyPr>
          <a:lstStyle/>
          <a:p>
            <a:pPr algn="ctr">
              <a:lnSpc>
                <a:spcPct val="150000"/>
              </a:lnSpc>
            </a:pP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Elementos </a:t>
            </a:r>
            <a:r>
              <a:rPr lang="pt-BR" sz="400" dirty="0" err="1">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en</a:t>
            </a: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7" name="CuadroTexto 6">
            <a:extLst>
              <a:ext uri="{FF2B5EF4-FFF2-40B4-BE49-F238E27FC236}">
                <a16:creationId xmlns:a16="http://schemas.microsoft.com/office/drawing/2014/main" id="{5E7A4D87-4B7D-2C9D-F977-AC1DBD5EDAE3}"/>
              </a:ext>
            </a:extLst>
          </p:cNvPr>
          <p:cNvSpPr txBox="1"/>
          <p:nvPr/>
        </p:nvSpPr>
        <p:spPr>
          <a:xfrm>
            <a:off x="0" y="117255"/>
            <a:ext cx="1227138" cy="702628"/>
          </a:xfrm>
          <a:prstGeom prst="rect">
            <a:avLst/>
          </a:prstGeom>
          <a:noFill/>
        </p:spPr>
        <p:txBody>
          <a:bodyPr wrap="square">
            <a:spAutoFit/>
          </a:bodyPr>
          <a:lstStyle/>
          <a:p>
            <a:pPr lvl="1" algn="just">
              <a:lnSpc>
                <a:spcPct val="150000"/>
              </a:lnSpc>
            </a:pPr>
            <a:r>
              <a:rPr lang="es-ES" sz="300" b="1" dirty="0"/>
              <a:t>Un elemento HTML contiene tres partes:</a:t>
            </a:r>
          </a:p>
          <a:p>
            <a:pPr marL="88900" lvl="1" indent="-88900" algn="just">
              <a:lnSpc>
                <a:spcPct val="200000"/>
              </a:lnSpc>
              <a:buFont typeface="Wingdings" panose="05000000000000000000" pitchFamily="2" charset="2"/>
              <a:buChar char="ü"/>
            </a:pPr>
            <a:r>
              <a:rPr lang="es-ES" sz="300" b="1" dirty="0"/>
              <a:t>Etiqueta de apertura: </a:t>
            </a:r>
            <a:r>
              <a:rPr lang="es-ES" sz="300" dirty="0"/>
              <a:t>Empieza con el nombre del elemento encerrado por los símbolos de menor qué y mayor qué </a:t>
            </a:r>
            <a:r>
              <a:rPr lang="es-ES" sz="300" b="1" dirty="0"/>
              <a:t>(&lt;&gt;).</a:t>
            </a:r>
          </a:p>
          <a:p>
            <a:pPr marL="88900" lvl="1" indent="-88900" algn="just">
              <a:lnSpc>
                <a:spcPct val="200000"/>
              </a:lnSpc>
              <a:buFont typeface="Wingdings" panose="05000000000000000000" pitchFamily="2" charset="2"/>
              <a:buChar char="ü"/>
            </a:pPr>
            <a:r>
              <a:rPr lang="es-ES" sz="300" b="1" dirty="0"/>
              <a:t>Contenido</a:t>
            </a:r>
            <a:r>
              <a:rPr lang="es-ES" sz="300" dirty="0"/>
              <a:t>: Información a mostrar en el sitio web.</a:t>
            </a:r>
          </a:p>
          <a:p>
            <a:pPr marL="88900" lvl="1" indent="-88900" algn="just">
              <a:lnSpc>
                <a:spcPct val="200000"/>
              </a:lnSpc>
              <a:buFont typeface="Wingdings" panose="05000000000000000000" pitchFamily="2" charset="2"/>
              <a:buChar char="ü"/>
            </a:pPr>
            <a:r>
              <a:rPr lang="es-ES" sz="300" b="1" dirty="0"/>
              <a:t>Etiqueta de cierre: </a:t>
            </a:r>
            <a:r>
              <a:rPr lang="es-ES" sz="300" dirty="0"/>
              <a:t>Es igual que la etiqueta de apertura, pero incluye una barra diagonal </a:t>
            </a:r>
            <a:r>
              <a:rPr lang="es-ES" sz="300" b="1" dirty="0"/>
              <a:t>(/) </a:t>
            </a:r>
            <a:r>
              <a:rPr lang="es-ES" sz="300" dirty="0"/>
              <a:t>antes del nombre de la etiqueta.</a:t>
            </a:r>
            <a:endParaRPr lang="es-VE" sz="300" dirty="0">
              <a:solidFill>
                <a:schemeClr val="bg1">
                  <a:lumMod val="75000"/>
                </a:schemeClr>
              </a:solidFill>
            </a:endParaRPr>
          </a:p>
        </p:txBody>
      </p:sp>
    </p:spTree>
    <p:extLst>
      <p:ext uri="{BB962C8B-B14F-4D97-AF65-F5344CB8AC3E}">
        <p14:creationId xmlns:p14="http://schemas.microsoft.com/office/powerpoint/2010/main" val="3764253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0C424-A1D5-B608-5A99-90C4A6D048D4}"/>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AB0D4927-C6DF-645F-323A-6096E3D058E9}"/>
              </a:ext>
            </a:extLst>
          </p:cNvPr>
          <p:cNvSpPr txBox="1"/>
          <p:nvPr/>
        </p:nvSpPr>
        <p:spPr>
          <a:xfrm>
            <a:off x="0" y="-1594"/>
            <a:ext cx="1227138" cy="172098"/>
          </a:xfrm>
          <a:prstGeom prst="rect">
            <a:avLst/>
          </a:prstGeom>
          <a:noFill/>
        </p:spPr>
        <p:txBody>
          <a:bodyPr wrap="square" rtlCol="0">
            <a:spAutoFit/>
          </a:bodyPr>
          <a:lstStyle/>
          <a:p>
            <a:pPr algn="ctr">
              <a:lnSpc>
                <a:spcPct val="150000"/>
              </a:lnSpc>
            </a:pP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Elementos </a:t>
            </a:r>
            <a:r>
              <a:rPr lang="pt-BR" sz="400" dirty="0" err="1">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en</a:t>
            </a: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7" name="CuadroTexto 6">
            <a:extLst>
              <a:ext uri="{FF2B5EF4-FFF2-40B4-BE49-F238E27FC236}">
                <a16:creationId xmlns:a16="http://schemas.microsoft.com/office/drawing/2014/main" id="{CC91AE4C-C0CA-007B-9BED-E3C769E0CFB2}"/>
              </a:ext>
            </a:extLst>
          </p:cNvPr>
          <p:cNvSpPr txBox="1"/>
          <p:nvPr/>
        </p:nvSpPr>
        <p:spPr>
          <a:xfrm>
            <a:off x="0" y="117255"/>
            <a:ext cx="1227138" cy="541046"/>
          </a:xfrm>
          <a:prstGeom prst="rect">
            <a:avLst/>
          </a:prstGeom>
          <a:noFill/>
        </p:spPr>
        <p:txBody>
          <a:bodyPr wrap="square">
            <a:spAutoFit/>
          </a:bodyPr>
          <a:lstStyle/>
          <a:p>
            <a:pPr lvl="1" algn="just">
              <a:lnSpc>
                <a:spcPct val="200000"/>
              </a:lnSpc>
            </a:pPr>
            <a:r>
              <a:rPr lang="es-ES" sz="300" b="1" dirty="0"/>
              <a:t>Ejemplos de Elementos:</a:t>
            </a:r>
          </a:p>
          <a:p>
            <a:pPr marL="88900" lvl="1" indent="-88900" algn="just">
              <a:lnSpc>
                <a:spcPct val="200000"/>
              </a:lnSpc>
              <a:buFont typeface="Wingdings" panose="05000000000000000000" pitchFamily="2" charset="2"/>
              <a:buChar char="ü"/>
            </a:pPr>
            <a:r>
              <a:rPr lang="es-ES" sz="300" b="1" dirty="0"/>
              <a:t>&lt;h1&gt;</a:t>
            </a:r>
            <a:r>
              <a:rPr lang="es-ES" sz="300" dirty="0"/>
              <a:t>¡Hola Mundo!</a:t>
            </a:r>
            <a:r>
              <a:rPr lang="es-ES" sz="300" b="1" dirty="0"/>
              <a:t>&lt;/h1&gt;</a:t>
            </a:r>
          </a:p>
          <a:p>
            <a:pPr marL="88900" lvl="1" indent="-88900" algn="just">
              <a:lnSpc>
                <a:spcPct val="200000"/>
              </a:lnSpc>
              <a:buFont typeface="Wingdings" panose="05000000000000000000" pitchFamily="2" charset="2"/>
              <a:buChar char="ü"/>
            </a:pPr>
            <a:r>
              <a:rPr lang="es-ES" sz="300" b="1" dirty="0"/>
              <a:t>&lt;</a:t>
            </a:r>
            <a:r>
              <a:rPr lang="es-ES" sz="300" b="1" dirty="0" err="1"/>
              <a:t>span</a:t>
            </a:r>
            <a:r>
              <a:rPr lang="es-ES" sz="300" b="1" dirty="0"/>
              <a:t>&gt;</a:t>
            </a:r>
            <a:r>
              <a:rPr lang="es-ES" sz="300" dirty="0"/>
              <a:t>Esto es un ejemplo</a:t>
            </a:r>
            <a:r>
              <a:rPr lang="es-ES" sz="300" b="1" dirty="0"/>
              <a:t>&lt;/</a:t>
            </a:r>
            <a:r>
              <a:rPr lang="es-ES" sz="300" b="1" dirty="0" err="1"/>
              <a:t>span</a:t>
            </a:r>
            <a:r>
              <a:rPr lang="es-ES" sz="300" b="1" dirty="0"/>
              <a:t>&gt;</a:t>
            </a:r>
          </a:p>
          <a:p>
            <a:pPr marL="88900" lvl="1" indent="-88900" algn="just">
              <a:lnSpc>
                <a:spcPct val="200000"/>
              </a:lnSpc>
              <a:buFont typeface="Wingdings" panose="05000000000000000000" pitchFamily="2" charset="2"/>
              <a:buChar char="ü"/>
            </a:pPr>
            <a:r>
              <a:rPr lang="es-ES" sz="300" b="1" dirty="0"/>
              <a:t>&lt;i&gt;</a:t>
            </a:r>
            <a:r>
              <a:rPr lang="es-ES" sz="300" dirty="0"/>
              <a:t>De los elementos</a:t>
            </a:r>
            <a:r>
              <a:rPr lang="es-ES" sz="300" b="1" dirty="0"/>
              <a:t>&lt;/i&gt;</a:t>
            </a:r>
          </a:p>
          <a:p>
            <a:pPr marL="88900" lvl="1" indent="-88900" algn="just">
              <a:lnSpc>
                <a:spcPct val="200000"/>
              </a:lnSpc>
              <a:buFont typeface="Wingdings" panose="05000000000000000000" pitchFamily="2" charset="2"/>
              <a:buChar char="ü"/>
            </a:pPr>
            <a:r>
              <a:rPr lang="es-ES" sz="300" b="1" dirty="0"/>
              <a:t>&lt;s&gt;</a:t>
            </a:r>
            <a:r>
              <a:rPr lang="es-ES" sz="300" dirty="0"/>
              <a:t>En HTML</a:t>
            </a:r>
            <a:r>
              <a:rPr lang="es-ES" sz="300" b="1" dirty="0"/>
              <a:t>&lt;/s&gt;</a:t>
            </a:r>
            <a:endParaRPr lang="es-VE" sz="300" b="1" dirty="0">
              <a:solidFill>
                <a:schemeClr val="tx1">
                  <a:lumMod val="65000"/>
                  <a:lumOff val="35000"/>
                </a:schemeClr>
              </a:solidFill>
            </a:endParaRPr>
          </a:p>
        </p:txBody>
      </p:sp>
    </p:spTree>
    <p:extLst>
      <p:ext uri="{BB962C8B-B14F-4D97-AF65-F5344CB8AC3E}">
        <p14:creationId xmlns:p14="http://schemas.microsoft.com/office/powerpoint/2010/main" val="3581772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23899-3D1C-F743-0FEA-4BE4DD77A10A}"/>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E02BAB20-E1D8-AFFE-B6B3-448D842B66B5}"/>
              </a:ext>
            </a:extLst>
          </p:cNvPr>
          <p:cNvSpPr txBox="1"/>
          <p:nvPr/>
        </p:nvSpPr>
        <p:spPr>
          <a:xfrm>
            <a:off x="0" y="-1594"/>
            <a:ext cx="1227138" cy="172098"/>
          </a:xfrm>
          <a:prstGeom prst="rect">
            <a:avLst/>
          </a:prstGeom>
          <a:noFill/>
        </p:spPr>
        <p:txBody>
          <a:bodyPr wrap="square" rtlCol="0">
            <a:spAutoFit/>
          </a:bodyPr>
          <a:lstStyle/>
          <a:p>
            <a:pPr algn="ctr">
              <a:lnSpc>
                <a:spcPct val="150000"/>
              </a:lnSpc>
            </a:pP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Atributos </a:t>
            </a:r>
            <a:r>
              <a:rPr lang="pt-BR" sz="400" dirty="0" err="1">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en</a:t>
            </a: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7" name="CuadroTexto 6">
            <a:extLst>
              <a:ext uri="{FF2B5EF4-FFF2-40B4-BE49-F238E27FC236}">
                <a16:creationId xmlns:a16="http://schemas.microsoft.com/office/drawing/2014/main" id="{EE0761FE-E21A-44FE-735A-FCF36979FE91}"/>
              </a:ext>
            </a:extLst>
          </p:cNvPr>
          <p:cNvSpPr txBox="1"/>
          <p:nvPr/>
        </p:nvSpPr>
        <p:spPr>
          <a:xfrm>
            <a:off x="0" y="117255"/>
            <a:ext cx="1227138" cy="725711"/>
          </a:xfrm>
          <a:prstGeom prst="rect">
            <a:avLst/>
          </a:prstGeom>
          <a:noFill/>
        </p:spPr>
        <p:txBody>
          <a:bodyPr wrap="square">
            <a:spAutoFit/>
          </a:bodyPr>
          <a:lstStyle/>
          <a:p>
            <a:pPr lvl="1" algn="just">
              <a:lnSpc>
                <a:spcPct val="200000"/>
              </a:lnSpc>
            </a:pPr>
            <a:r>
              <a:rPr lang="es-ES" sz="300" dirty="0"/>
              <a:t>	Los elementos pueden tener atributos y estos a su vez contienen información adicional acerca del elemento, la cual no aparece en el contenido real del elemento. </a:t>
            </a:r>
          </a:p>
          <a:p>
            <a:pPr lvl="1" algn="just">
              <a:lnSpc>
                <a:spcPct val="200000"/>
              </a:lnSpc>
            </a:pPr>
            <a:endParaRPr lang="es-ES" sz="300" dirty="0"/>
          </a:p>
          <a:p>
            <a:pPr lvl="1" algn="just">
              <a:lnSpc>
                <a:spcPct val="200000"/>
              </a:lnSpc>
            </a:pPr>
            <a:r>
              <a:rPr lang="es-ES" sz="300" b="1" dirty="0"/>
              <a:t>Ejemplo:</a:t>
            </a:r>
            <a:r>
              <a:rPr lang="es-ES" sz="300" dirty="0"/>
              <a:t> &lt;h1 id="encabezado"&gt; Hola Clase! &lt;/h1&gt; </a:t>
            </a:r>
          </a:p>
          <a:p>
            <a:pPr lvl="1" algn="just">
              <a:lnSpc>
                <a:spcPct val="200000"/>
              </a:lnSpc>
            </a:pPr>
            <a:r>
              <a:rPr lang="es-ES" sz="300" dirty="0"/>
              <a:t>	En el ejemplo anterior id es el nombre del atributo y encabezado es el valor del atributo.</a:t>
            </a:r>
          </a:p>
        </p:txBody>
      </p:sp>
    </p:spTree>
    <p:extLst>
      <p:ext uri="{BB962C8B-B14F-4D97-AF65-F5344CB8AC3E}">
        <p14:creationId xmlns:p14="http://schemas.microsoft.com/office/powerpoint/2010/main" val="19578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B6B12-0F61-0DB5-3AC2-5442EBF2BE5A}"/>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7C75A95E-1DED-6AA1-454A-7D5695C0E4A3}"/>
              </a:ext>
            </a:extLst>
          </p:cNvPr>
          <p:cNvSpPr txBox="1"/>
          <p:nvPr/>
        </p:nvSpPr>
        <p:spPr>
          <a:xfrm>
            <a:off x="0" y="-1594"/>
            <a:ext cx="1227138" cy="172098"/>
          </a:xfrm>
          <a:prstGeom prst="rect">
            <a:avLst/>
          </a:prstGeom>
          <a:noFill/>
        </p:spPr>
        <p:txBody>
          <a:bodyPr wrap="square" rtlCol="0">
            <a:spAutoFit/>
          </a:bodyPr>
          <a:lstStyle/>
          <a:p>
            <a:pPr algn="ctr">
              <a:lnSpc>
                <a:spcPct val="150000"/>
              </a:lnSpc>
            </a:pP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Atributos </a:t>
            </a:r>
            <a:r>
              <a:rPr lang="pt-BR" sz="400" dirty="0" err="1">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en</a:t>
            </a:r>
            <a:r>
              <a:rPr lang="pt-BR"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7" name="CuadroTexto 6">
            <a:extLst>
              <a:ext uri="{FF2B5EF4-FFF2-40B4-BE49-F238E27FC236}">
                <a16:creationId xmlns:a16="http://schemas.microsoft.com/office/drawing/2014/main" id="{AF9A1CD9-45A6-8B46-BC91-7F8AA596B9AF}"/>
              </a:ext>
            </a:extLst>
          </p:cNvPr>
          <p:cNvSpPr txBox="1"/>
          <p:nvPr/>
        </p:nvSpPr>
        <p:spPr>
          <a:xfrm>
            <a:off x="0" y="117255"/>
            <a:ext cx="1227138" cy="794961"/>
          </a:xfrm>
          <a:prstGeom prst="rect">
            <a:avLst/>
          </a:prstGeom>
          <a:noFill/>
        </p:spPr>
        <p:txBody>
          <a:bodyPr wrap="square">
            <a:spAutoFit/>
          </a:bodyPr>
          <a:lstStyle/>
          <a:p>
            <a:pPr lvl="1" algn="just">
              <a:lnSpc>
                <a:spcPct val="150000"/>
              </a:lnSpc>
            </a:pPr>
            <a:r>
              <a:rPr lang="es-ES" sz="300" b="1" dirty="0"/>
              <a:t>Un atributo debe tener siempre:</a:t>
            </a:r>
          </a:p>
          <a:p>
            <a:pPr marL="88900" lvl="1" indent="-88900" algn="just">
              <a:lnSpc>
                <a:spcPct val="200000"/>
              </a:lnSpc>
              <a:buFont typeface="Wingdings" panose="05000000000000000000" pitchFamily="2" charset="2"/>
              <a:buChar char="ü"/>
            </a:pPr>
            <a:r>
              <a:rPr lang="es-ES" sz="300" dirty="0"/>
              <a:t>Un espacio entre este y el nombre del elemento o del final del atributo previo en caso de poseerlo.</a:t>
            </a:r>
          </a:p>
          <a:p>
            <a:pPr marL="88900" lvl="1" indent="-88900" algn="just">
              <a:lnSpc>
                <a:spcPct val="200000"/>
              </a:lnSpc>
              <a:buFont typeface="Wingdings" panose="05000000000000000000" pitchFamily="2" charset="2"/>
              <a:buChar char="ü"/>
            </a:pPr>
            <a:r>
              <a:rPr lang="es-ES" sz="300" dirty="0"/>
              <a:t>El nombre del atributo seguido por un signo de igual (=).</a:t>
            </a:r>
          </a:p>
          <a:p>
            <a:pPr marL="88900" lvl="1" indent="-88900" algn="just">
              <a:lnSpc>
                <a:spcPct val="200000"/>
              </a:lnSpc>
              <a:buFont typeface="Wingdings" panose="05000000000000000000" pitchFamily="2" charset="2"/>
              <a:buChar char="ü"/>
            </a:pPr>
            <a:r>
              <a:rPr lang="es-ES" sz="300" dirty="0"/>
              <a:t>Comillas de apertura y de cierre, encerrando el valor del atributo.</a:t>
            </a:r>
          </a:p>
          <a:p>
            <a:pPr marL="88900" lvl="1" indent="-88900" algn="just">
              <a:lnSpc>
                <a:spcPct val="200000"/>
              </a:lnSpc>
              <a:buFont typeface="Wingdings" panose="05000000000000000000" pitchFamily="2" charset="2"/>
              <a:buChar char="ü"/>
            </a:pPr>
            <a:r>
              <a:rPr lang="es-ES" sz="300" dirty="0"/>
              <a:t>Detalle Importante: Los atributos siempre se incluyen en la etiqueta de apertura de un elemento, nunca en la de cierre.</a:t>
            </a:r>
            <a:endParaRPr lang="es-VE" dirty="0"/>
          </a:p>
        </p:txBody>
      </p:sp>
    </p:spTree>
    <p:extLst>
      <p:ext uri="{BB962C8B-B14F-4D97-AF65-F5344CB8AC3E}">
        <p14:creationId xmlns:p14="http://schemas.microsoft.com/office/powerpoint/2010/main" val="4017765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6D750-5FA3-5EC4-9485-2572160C9946}"/>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D00EC04B-2A58-D17C-9941-B70B4020D887}"/>
              </a:ext>
            </a:extLst>
          </p:cNvPr>
          <p:cNvSpPr txBox="1"/>
          <p:nvPr/>
        </p:nvSpPr>
        <p:spPr>
          <a:xfrm>
            <a:off x="0" y="-1594"/>
            <a:ext cx="1021556" cy="172098"/>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Anidamiento de Elementos en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7" name="CuadroTexto 6">
            <a:extLst>
              <a:ext uri="{FF2B5EF4-FFF2-40B4-BE49-F238E27FC236}">
                <a16:creationId xmlns:a16="http://schemas.microsoft.com/office/drawing/2014/main" id="{054D5E32-A37E-EA53-139C-D28BC742A307}"/>
              </a:ext>
            </a:extLst>
          </p:cNvPr>
          <p:cNvSpPr txBox="1"/>
          <p:nvPr/>
        </p:nvSpPr>
        <p:spPr>
          <a:xfrm>
            <a:off x="0" y="117255"/>
            <a:ext cx="1227138" cy="725711"/>
          </a:xfrm>
          <a:prstGeom prst="rect">
            <a:avLst/>
          </a:prstGeom>
          <a:noFill/>
        </p:spPr>
        <p:txBody>
          <a:bodyPr wrap="square">
            <a:spAutoFit/>
          </a:bodyPr>
          <a:lstStyle/>
          <a:p>
            <a:pPr lvl="1" algn="just">
              <a:lnSpc>
                <a:spcPct val="200000"/>
              </a:lnSpc>
            </a:pPr>
            <a:r>
              <a:rPr lang="es-ES" sz="300" dirty="0"/>
              <a:t>	Es válido colocar elementos dentro de otros elementos, esto se llama anidamiento. </a:t>
            </a:r>
          </a:p>
          <a:p>
            <a:pPr lvl="1" algn="just">
              <a:lnSpc>
                <a:spcPct val="200000"/>
              </a:lnSpc>
            </a:pPr>
            <a:endParaRPr lang="es-ES" sz="300" dirty="0"/>
          </a:p>
          <a:p>
            <a:pPr lvl="1" algn="just">
              <a:lnSpc>
                <a:spcPct val="200000"/>
              </a:lnSpc>
            </a:pPr>
            <a:r>
              <a:rPr lang="es-ES" sz="300" b="1" dirty="0"/>
              <a:t>Ejemplo: </a:t>
            </a:r>
            <a:r>
              <a:rPr lang="es-ES" sz="300" dirty="0"/>
              <a:t>&lt;p&gt;Asistir a clase es &lt;b&gt;fundamental&lt;/b&gt;&lt;/p&gt; </a:t>
            </a:r>
          </a:p>
          <a:p>
            <a:pPr lvl="1" algn="just">
              <a:lnSpc>
                <a:spcPct val="200000"/>
              </a:lnSpc>
            </a:pPr>
            <a:r>
              <a:rPr lang="es-ES" sz="300" dirty="0"/>
              <a:t>	En el ejemplo anterior creamos un párrafo con las etiquetas &lt;p&gt; y dentro del mismo colocamos letra en negrita a la palabra "fundamental" con las etiquetas &lt;b&gt;.</a:t>
            </a:r>
            <a:endParaRPr lang="es-VE" sz="300" dirty="0"/>
          </a:p>
        </p:txBody>
      </p:sp>
    </p:spTree>
    <p:extLst>
      <p:ext uri="{BB962C8B-B14F-4D97-AF65-F5344CB8AC3E}">
        <p14:creationId xmlns:p14="http://schemas.microsoft.com/office/powerpoint/2010/main" val="28272947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10C43-1757-8AAD-5AD1-0A415BE670A6}"/>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C4FBA9B0-5365-2724-F1DA-78E26DB0AE12}"/>
              </a:ext>
            </a:extLst>
          </p:cNvPr>
          <p:cNvSpPr txBox="1"/>
          <p:nvPr/>
        </p:nvSpPr>
        <p:spPr>
          <a:xfrm>
            <a:off x="0" y="-1594"/>
            <a:ext cx="1059656" cy="172098"/>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Estructura de un Documento en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pic>
        <p:nvPicPr>
          <p:cNvPr id="3" name="Imagen 2">
            <a:extLst>
              <a:ext uri="{FF2B5EF4-FFF2-40B4-BE49-F238E27FC236}">
                <a16:creationId xmlns:a16="http://schemas.microsoft.com/office/drawing/2014/main" id="{602C29A2-0D34-1A1B-9EFE-41338C138CDE}"/>
              </a:ext>
            </a:extLst>
          </p:cNvPr>
          <p:cNvPicPr>
            <a:picLocks noChangeAspect="1"/>
          </p:cNvPicPr>
          <p:nvPr/>
        </p:nvPicPr>
        <p:blipFill>
          <a:blip r:embed="rId2"/>
          <a:stretch>
            <a:fillRect/>
          </a:stretch>
        </p:blipFill>
        <p:spPr>
          <a:xfrm>
            <a:off x="288766" y="221456"/>
            <a:ext cx="649606" cy="576263"/>
          </a:xfrm>
          <a:prstGeom prst="rect">
            <a:avLst/>
          </a:prstGeom>
        </p:spPr>
      </p:pic>
    </p:spTree>
    <p:extLst>
      <p:ext uri="{BB962C8B-B14F-4D97-AF65-F5344CB8AC3E}">
        <p14:creationId xmlns:p14="http://schemas.microsoft.com/office/powerpoint/2010/main" val="503996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19045-777B-2C90-DC48-6D35BD3B0A4B}"/>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51DD103D-6D26-3329-B9C1-2A568D9D49B5}"/>
              </a:ext>
            </a:extLst>
          </p:cNvPr>
          <p:cNvSpPr txBox="1"/>
          <p:nvPr/>
        </p:nvSpPr>
        <p:spPr>
          <a:xfrm>
            <a:off x="0" y="117255"/>
            <a:ext cx="1227138" cy="633379"/>
          </a:xfrm>
          <a:prstGeom prst="rect">
            <a:avLst/>
          </a:prstGeom>
          <a:noFill/>
        </p:spPr>
        <p:txBody>
          <a:bodyPr wrap="square">
            <a:spAutoFit/>
          </a:bodyPr>
          <a:lstStyle/>
          <a:p>
            <a:pPr lvl="1" algn="just">
              <a:lnSpc>
                <a:spcPct val="200000"/>
              </a:lnSpc>
            </a:pPr>
            <a:r>
              <a:rPr lang="es-ES" sz="300" b="1" dirty="0"/>
              <a:t>&lt;!DOCTYPE </a:t>
            </a:r>
            <a:r>
              <a:rPr lang="es-ES" sz="300" b="1" dirty="0" err="1"/>
              <a:t>html</a:t>
            </a:r>
            <a:r>
              <a:rPr lang="es-ES" sz="300" b="1" dirty="0"/>
              <a:t>&gt;: </a:t>
            </a:r>
            <a:r>
              <a:rPr lang="es-ES" sz="300" dirty="0"/>
              <a:t>Se utiliza para especificar que se trabajará con un documento </a:t>
            </a:r>
            <a:r>
              <a:rPr lang="es-ES" sz="300" b="1" dirty="0"/>
              <a:t>HTML.</a:t>
            </a:r>
          </a:p>
          <a:p>
            <a:pPr lvl="1" algn="just">
              <a:lnSpc>
                <a:spcPct val="200000"/>
              </a:lnSpc>
            </a:pPr>
            <a:endParaRPr lang="es-ES" sz="300" b="1" dirty="0"/>
          </a:p>
          <a:p>
            <a:pPr lvl="1" algn="just">
              <a:lnSpc>
                <a:spcPct val="200000"/>
              </a:lnSpc>
            </a:pPr>
            <a:r>
              <a:rPr lang="es-ES" sz="300" b="1" dirty="0"/>
              <a:t>&lt;</a:t>
            </a:r>
            <a:r>
              <a:rPr lang="es-ES" sz="300" b="1" dirty="0" err="1"/>
              <a:t>html</a:t>
            </a:r>
            <a:r>
              <a:rPr lang="es-ES" sz="300" b="1" dirty="0"/>
              <a:t> </a:t>
            </a:r>
            <a:r>
              <a:rPr lang="es-ES" sz="300" b="1" dirty="0" err="1"/>
              <a:t>lang</a:t>
            </a:r>
            <a:r>
              <a:rPr lang="es-ES" sz="300" b="1" dirty="0"/>
              <a:t>="es"&gt;: </a:t>
            </a:r>
            <a:r>
              <a:rPr lang="es-ES" sz="300" dirty="0"/>
              <a:t>Define el inicio y el final de la página web permitiendo indicar cuál es el idioma usado en el sitio.</a:t>
            </a:r>
          </a:p>
          <a:p>
            <a:pPr lvl="1" algn="just">
              <a:lnSpc>
                <a:spcPct val="200000"/>
              </a:lnSpc>
            </a:pPr>
            <a:endParaRPr lang="es-ES" sz="300" dirty="0"/>
          </a:p>
        </p:txBody>
      </p:sp>
      <p:sp>
        <p:nvSpPr>
          <p:cNvPr id="2" name="3 CuadroTexto">
            <a:extLst>
              <a:ext uri="{FF2B5EF4-FFF2-40B4-BE49-F238E27FC236}">
                <a16:creationId xmlns:a16="http://schemas.microsoft.com/office/drawing/2014/main" id="{F7A61190-6645-6BD2-754A-C8286237012E}"/>
              </a:ext>
            </a:extLst>
          </p:cNvPr>
          <p:cNvSpPr txBox="1"/>
          <p:nvPr/>
        </p:nvSpPr>
        <p:spPr>
          <a:xfrm>
            <a:off x="0" y="-1594"/>
            <a:ext cx="1059656" cy="172098"/>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Estructura de un Documento en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518371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5D1D0-37D6-EB92-B386-4DE6AA8FB63C}"/>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0764D09D-DF4D-A848-2498-3AF376F78912}"/>
              </a:ext>
            </a:extLst>
          </p:cNvPr>
          <p:cNvSpPr txBox="1"/>
          <p:nvPr/>
        </p:nvSpPr>
        <p:spPr>
          <a:xfrm>
            <a:off x="0" y="117255"/>
            <a:ext cx="1227138" cy="818044"/>
          </a:xfrm>
          <a:prstGeom prst="rect">
            <a:avLst/>
          </a:prstGeom>
          <a:noFill/>
        </p:spPr>
        <p:txBody>
          <a:bodyPr wrap="square">
            <a:spAutoFit/>
          </a:bodyPr>
          <a:lstStyle/>
          <a:p>
            <a:pPr lvl="1" algn="just">
              <a:lnSpc>
                <a:spcPct val="200000"/>
              </a:lnSpc>
            </a:pPr>
            <a:r>
              <a:rPr lang="es-ES" sz="300" b="1" dirty="0"/>
              <a:t>&lt;head&gt;: </a:t>
            </a:r>
            <a:r>
              <a:rPr lang="es-ES" sz="300" dirty="0"/>
              <a:t>Define la sección de encabezado de la página, donde se incluyen elementos como el título de la página, </a:t>
            </a:r>
            <a:r>
              <a:rPr lang="es-ES" sz="300" dirty="0" err="1"/>
              <a:t>metaetiquetas</a:t>
            </a:r>
            <a:r>
              <a:rPr lang="es-ES" sz="300" dirty="0"/>
              <a:t>, scripts, entre otros que no son visibles en el sitio web.</a:t>
            </a:r>
            <a:endParaRPr lang="es-VE" sz="300" dirty="0"/>
          </a:p>
          <a:p>
            <a:pPr lvl="1" algn="just">
              <a:lnSpc>
                <a:spcPct val="200000"/>
              </a:lnSpc>
            </a:pPr>
            <a:r>
              <a:rPr lang="es-ES" sz="300" b="1" dirty="0"/>
              <a:t>&lt;meta </a:t>
            </a:r>
            <a:r>
              <a:rPr lang="es-ES" sz="300" b="1" dirty="0" err="1"/>
              <a:t>charset</a:t>
            </a:r>
            <a:r>
              <a:rPr lang="es-ES" sz="300" b="1" dirty="0"/>
              <a:t>="utf-8"&gt;: </a:t>
            </a:r>
            <a:r>
              <a:rPr lang="es-ES" sz="300" dirty="0"/>
              <a:t>Este elemento establece el juego de caracteres que tu documento usará. El juego de caracteres "utf-8" es el más recomendado ya que incluye casi todos los caracteres de todos los idiomas humanos.</a:t>
            </a:r>
          </a:p>
        </p:txBody>
      </p:sp>
      <p:sp>
        <p:nvSpPr>
          <p:cNvPr id="2" name="3 CuadroTexto">
            <a:extLst>
              <a:ext uri="{FF2B5EF4-FFF2-40B4-BE49-F238E27FC236}">
                <a16:creationId xmlns:a16="http://schemas.microsoft.com/office/drawing/2014/main" id="{814B1A8C-CD87-FC04-4339-4FCB400A51E1}"/>
              </a:ext>
            </a:extLst>
          </p:cNvPr>
          <p:cNvSpPr txBox="1"/>
          <p:nvPr/>
        </p:nvSpPr>
        <p:spPr>
          <a:xfrm>
            <a:off x="0" y="-1594"/>
            <a:ext cx="1059656" cy="172098"/>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Estructura de un Documento en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42252939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3960B-675F-17C9-A953-26A525C92FA7}"/>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EE3855D9-1C81-5059-53F9-3C033E3E98D1}"/>
              </a:ext>
            </a:extLst>
          </p:cNvPr>
          <p:cNvSpPr txBox="1"/>
          <p:nvPr/>
        </p:nvSpPr>
        <p:spPr>
          <a:xfrm>
            <a:off x="0" y="117255"/>
            <a:ext cx="1227138" cy="633379"/>
          </a:xfrm>
          <a:prstGeom prst="rect">
            <a:avLst/>
          </a:prstGeom>
          <a:noFill/>
        </p:spPr>
        <p:txBody>
          <a:bodyPr wrap="square">
            <a:spAutoFit/>
          </a:bodyPr>
          <a:lstStyle/>
          <a:p>
            <a:pPr lvl="1" algn="just">
              <a:lnSpc>
                <a:spcPct val="200000"/>
              </a:lnSpc>
            </a:pPr>
            <a:r>
              <a:rPr lang="es-ES" sz="300" b="1" dirty="0"/>
              <a:t>&lt;</a:t>
            </a:r>
            <a:r>
              <a:rPr lang="es-ES" sz="300" b="1" dirty="0" err="1"/>
              <a:t>title</a:t>
            </a:r>
            <a:r>
              <a:rPr lang="es-ES" sz="300" b="1" dirty="0"/>
              <a:t>&gt;: </a:t>
            </a:r>
            <a:r>
              <a:rPr lang="es-ES" sz="300" dirty="0"/>
              <a:t>Establece el título de tu página, que aparece en la pestaña o en la barra de título del navegador.</a:t>
            </a:r>
          </a:p>
          <a:p>
            <a:pPr lvl="1" algn="just">
              <a:lnSpc>
                <a:spcPct val="200000"/>
              </a:lnSpc>
            </a:pPr>
            <a:r>
              <a:rPr lang="es-ES" sz="300" dirty="0"/>
              <a:t>	</a:t>
            </a:r>
          </a:p>
          <a:p>
            <a:pPr lvl="1" algn="just">
              <a:lnSpc>
                <a:spcPct val="200000"/>
              </a:lnSpc>
            </a:pPr>
            <a:r>
              <a:rPr lang="es-ES" sz="300" b="1" dirty="0"/>
              <a:t>&lt;</a:t>
            </a:r>
            <a:r>
              <a:rPr lang="es-ES" sz="300" b="1" dirty="0" err="1"/>
              <a:t>body</a:t>
            </a:r>
            <a:r>
              <a:rPr lang="es-ES" sz="300" b="1" dirty="0"/>
              <a:t>&gt;: </a:t>
            </a:r>
            <a:r>
              <a:rPr lang="es-ES" sz="300" dirty="0"/>
              <a:t>Encierra todo el contenido a mostrar a los usuarios web que visiten tu página, ya sea texto, imágenes, videos, pistas de audio reproducibles y demás.</a:t>
            </a:r>
            <a:endParaRPr lang="es-VE" sz="300" dirty="0"/>
          </a:p>
        </p:txBody>
      </p:sp>
      <p:sp>
        <p:nvSpPr>
          <p:cNvPr id="2" name="3 CuadroTexto">
            <a:extLst>
              <a:ext uri="{FF2B5EF4-FFF2-40B4-BE49-F238E27FC236}">
                <a16:creationId xmlns:a16="http://schemas.microsoft.com/office/drawing/2014/main" id="{3653C26B-D3F6-DFA0-0DAD-E40D20DCDFAC}"/>
              </a:ext>
            </a:extLst>
          </p:cNvPr>
          <p:cNvSpPr txBox="1"/>
          <p:nvPr/>
        </p:nvSpPr>
        <p:spPr>
          <a:xfrm>
            <a:off x="0" y="-1594"/>
            <a:ext cx="1059656" cy="172098"/>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Estructura de un Documento en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8075574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BF583-5B41-2CF8-6953-EF35B293C43E}"/>
            </a:ext>
          </a:extLst>
        </p:cNvPr>
        <p:cNvGrpSpPr/>
        <p:nvPr/>
      </p:nvGrpSpPr>
      <p:grpSpPr>
        <a:xfrm>
          <a:off x="0" y="0"/>
          <a:ext cx="0" cy="0"/>
          <a:chOff x="0" y="0"/>
          <a:chExt cx="0" cy="0"/>
        </a:xfrm>
      </p:grpSpPr>
      <p:sp>
        <p:nvSpPr>
          <p:cNvPr id="4" name="3 CuadroTexto">
            <a:extLst>
              <a:ext uri="{FF2B5EF4-FFF2-40B4-BE49-F238E27FC236}">
                <a16:creationId xmlns:a16="http://schemas.microsoft.com/office/drawing/2014/main" id="{03240C61-3281-E1A0-99BF-03576706E364}"/>
              </a:ext>
            </a:extLst>
          </p:cNvPr>
          <p:cNvSpPr txBox="1"/>
          <p:nvPr/>
        </p:nvSpPr>
        <p:spPr>
          <a:xfrm>
            <a:off x="0" y="-1594"/>
            <a:ext cx="1042988" cy="172098"/>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Reglas para trabajar en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
        <p:nvSpPr>
          <p:cNvPr id="7" name="CuadroTexto 6">
            <a:extLst>
              <a:ext uri="{FF2B5EF4-FFF2-40B4-BE49-F238E27FC236}">
                <a16:creationId xmlns:a16="http://schemas.microsoft.com/office/drawing/2014/main" id="{DE409821-F72B-D3B8-7921-76E22F7D483E}"/>
              </a:ext>
            </a:extLst>
          </p:cNvPr>
          <p:cNvSpPr txBox="1"/>
          <p:nvPr/>
        </p:nvSpPr>
        <p:spPr>
          <a:xfrm>
            <a:off x="0" y="117255"/>
            <a:ext cx="1227138" cy="818044"/>
          </a:xfrm>
          <a:prstGeom prst="rect">
            <a:avLst/>
          </a:prstGeom>
          <a:noFill/>
        </p:spPr>
        <p:txBody>
          <a:bodyPr wrap="square">
            <a:spAutoFit/>
          </a:bodyPr>
          <a:lstStyle/>
          <a:p>
            <a:pPr marL="88900" lvl="1" indent="-88900" algn="just">
              <a:lnSpc>
                <a:spcPct val="200000"/>
              </a:lnSpc>
              <a:buFont typeface="Wingdings" panose="05000000000000000000" pitchFamily="2" charset="2"/>
              <a:buChar char="ü"/>
            </a:pPr>
            <a:r>
              <a:rPr lang="es-ES" sz="300" dirty="0"/>
              <a:t>El carácter </a:t>
            </a:r>
            <a:r>
              <a:rPr lang="es-ES" sz="300" b="1" dirty="0"/>
              <a:t>&lt; (menor que) </a:t>
            </a:r>
            <a:r>
              <a:rPr lang="es-ES" sz="300" dirty="0"/>
              <a:t>sólo puede utilizarse para indicar el comienzo de una etiqueta. </a:t>
            </a:r>
          </a:p>
          <a:p>
            <a:pPr marL="88900" lvl="1" indent="-88900" algn="just">
              <a:lnSpc>
                <a:spcPct val="200000"/>
              </a:lnSpc>
              <a:buFont typeface="Wingdings" panose="05000000000000000000" pitchFamily="2" charset="2"/>
              <a:buChar char="ü"/>
            </a:pPr>
            <a:r>
              <a:rPr lang="es-ES" sz="300" dirty="0"/>
              <a:t>Si se quiere mostrar el carácter </a:t>
            </a:r>
            <a:r>
              <a:rPr lang="es-ES" sz="300" b="1" dirty="0"/>
              <a:t>&lt;</a:t>
            </a:r>
            <a:r>
              <a:rPr lang="es-ES" sz="300" dirty="0"/>
              <a:t>,</a:t>
            </a:r>
            <a:r>
              <a:rPr lang="es-ES" sz="300" b="1" dirty="0"/>
              <a:t> </a:t>
            </a:r>
            <a:r>
              <a:rPr lang="es-ES" sz="300" dirty="0"/>
              <a:t>se debe escribir la entidad de carácter</a:t>
            </a:r>
            <a:r>
              <a:rPr lang="es-ES" sz="300" b="1" dirty="0"/>
              <a:t> &amp;</a:t>
            </a:r>
            <a:r>
              <a:rPr lang="es-ES" sz="300" b="1" dirty="0" err="1"/>
              <a:t>lt</a:t>
            </a:r>
            <a:r>
              <a:rPr lang="es-ES" sz="300" b="1" dirty="0"/>
              <a:t>;.</a:t>
            </a:r>
          </a:p>
          <a:p>
            <a:pPr marL="88900" lvl="1" indent="-88900" algn="just">
              <a:lnSpc>
                <a:spcPct val="200000"/>
              </a:lnSpc>
              <a:buFont typeface="Wingdings" panose="05000000000000000000" pitchFamily="2" charset="2"/>
              <a:buChar char="ü"/>
            </a:pPr>
            <a:r>
              <a:rPr lang="es-ES" sz="300" dirty="0"/>
              <a:t>El nombre del elemento debe ir a continuación del carácter </a:t>
            </a:r>
            <a:r>
              <a:rPr lang="es-ES" sz="300" b="1" dirty="0"/>
              <a:t>&lt; (sin espacios)</a:t>
            </a:r>
            <a:r>
              <a:rPr lang="es-ES" sz="300" dirty="0"/>
              <a:t>.</a:t>
            </a:r>
          </a:p>
          <a:p>
            <a:pPr marL="88900" lvl="1" indent="-88900" algn="just">
              <a:lnSpc>
                <a:spcPct val="200000"/>
              </a:lnSpc>
              <a:buFont typeface="Wingdings" panose="05000000000000000000" pitchFamily="2" charset="2"/>
              <a:buChar char="ü"/>
            </a:pPr>
            <a:r>
              <a:rPr lang="es-ES" sz="300" dirty="0"/>
              <a:t>El nombre del elemento en la etiqueta de cierre tiene que coincidir con el nombre en la etiqueta de apertura.</a:t>
            </a:r>
            <a:endParaRPr lang="es-VE" sz="300" dirty="0"/>
          </a:p>
        </p:txBody>
      </p:sp>
    </p:spTree>
    <p:extLst>
      <p:ext uri="{BB962C8B-B14F-4D97-AF65-F5344CB8AC3E}">
        <p14:creationId xmlns:p14="http://schemas.microsoft.com/office/powerpoint/2010/main" val="4914235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51940-920C-42B6-E16A-D8AF912D5C9B}"/>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CC2A6E1E-B026-93CC-2B05-ED9859DF2665}"/>
              </a:ext>
            </a:extLst>
          </p:cNvPr>
          <p:cNvSpPr txBox="1"/>
          <p:nvPr/>
        </p:nvSpPr>
        <p:spPr>
          <a:xfrm>
            <a:off x="0" y="118420"/>
            <a:ext cx="1227138" cy="633379"/>
          </a:xfrm>
          <a:prstGeom prst="rect">
            <a:avLst/>
          </a:prstGeom>
          <a:noFill/>
        </p:spPr>
        <p:txBody>
          <a:bodyPr wrap="square">
            <a:spAutoFit/>
          </a:bodyPr>
          <a:lstStyle/>
          <a:p>
            <a:pPr marL="88900" indent="-88900" algn="just">
              <a:lnSpc>
                <a:spcPct val="200000"/>
              </a:lnSpc>
              <a:buFont typeface="Wingdings" panose="05000000000000000000" pitchFamily="2" charset="2"/>
              <a:buChar char="ü"/>
            </a:pPr>
            <a:r>
              <a:rPr lang="es-ES" sz="300" dirty="0"/>
              <a:t>Todos los elementos tienen que estar completamente contenidos en otros elementos (no se pueden cruzar las etiquetas).</a:t>
            </a:r>
          </a:p>
          <a:p>
            <a:pPr marL="88900" indent="-88900" algn="just">
              <a:lnSpc>
                <a:spcPct val="200000"/>
              </a:lnSpc>
              <a:buFont typeface="Wingdings" panose="05000000000000000000" pitchFamily="2" charset="2"/>
              <a:buChar char="ü"/>
            </a:pPr>
            <a:r>
              <a:rPr lang="es-ES" sz="300" dirty="0"/>
              <a:t>Los elementos vacíos (los que no pueden contener texto) no tienen etiqueta de cierre. </a:t>
            </a:r>
          </a:p>
          <a:p>
            <a:pPr marL="88900" indent="-88900" algn="just">
              <a:lnSpc>
                <a:spcPct val="200000"/>
              </a:lnSpc>
              <a:buFont typeface="Wingdings" panose="05000000000000000000" pitchFamily="2" charset="2"/>
              <a:buChar char="ü"/>
            </a:pPr>
            <a:r>
              <a:rPr lang="es-ES" sz="300" dirty="0"/>
              <a:t>La etiqueta de apertura puede acabar en /&gt;. </a:t>
            </a:r>
            <a:endParaRPr lang="es-VE" sz="300" dirty="0"/>
          </a:p>
        </p:txBody>
      </p:sp>
      <p:sp>
        <p:nvSpPr>
          <p:cNvPr id="2" name="3 CuadroTexto">
            <a:extLst>
              <a:ext uri="{FF2B5EF4-FFF2-40B4-BE49-F238E27FC236}">
                <a16:creationId xmlns:a16="http://schemas.microsoft.com/office/drawing/2014/main" id="{4146C1DF-15D2-C74B-3035-79F0761BC8B5}"/>
              </a:ext>
            </a:extLst>
          </p:cNvPr>
          <p:cNvSpPr txBox="1"/>
          <p:nvPr/>
        </p:nvSpPr>
        <p:spPr>
          <a:xfrm>
            <a:off x="0" y="-1594"/>
            <a:ext cx="1042988" cy="172098"/>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Reglas para trabajar en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0364627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50E53-2362-BE86-84DB-70434DF53017}"/>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EEF9E623-1792-2032-9894-35F78832138D}"/>
              </a:ext>
            </a:extLst>
          </p:cNvPr>
          <p:cNvSpPr txBox="1"/>
          <p:nvPr/>
        </p:nvSpPr>
        <p:spPr>
          <a:xfrm>
            <a:off x="0" y="117255"/>
            <a:ext cx="1227138" cy="777649"/>
          </a:xfrm>
          <a:prstGeom prst="rect">
            <a:avLst/>
          </a:prstGeom>
          <a:noFill/>
        </p:spPr>
        <p:txBody>
          <a:bodyPr wrap="square">
            <a:spAutoFit/>
          </a:bodyPr>
          <a:lstStyle/>
          <a:p>
            <a:pPr marL="88900" indent="-88900" algn="just">
              <a:lnSpc>
                <a:spcPct val="150000"/>
              </a:lnSpc>
              <a:buFont typeface="Wingdings" panose="05000000000000000000" pitchFamily="2" charset="2"/>
              <a:buChar char="ü"/>
              <a:tabLst>
                <a:tab pos="179388" algn="l"/>
              </a:tabLst>
            </a:pPr>
            <a:r>
              <a:rPr lang="es-ES" sz="300" dirty="0"/>
              <a:t>Las etiquetas vacías (</a:t>
            </a:r>
            <a:r>
              <a:rPr lang="es-ES" sz="300" dirty="0" err="1"/>
              <a:t>void</a:t>
            </a:r>
            <a:r>
              <a:rPr lang="es-ES" sz="300" dirty="0"/>
              <a:t>) de HTML son: </a:t>
            </a:r>
            <a:r>
              <a:rPr lang="es-ES" sz="300" b="1" dirty="0"/>
              <a:t>&lt;</a:t>
            </a:r>
            <a:r>
              <a:rPr lang="es-ES" sz="300" b="1" dirty="0" err="1"/>
              <a:t>area</a:t>
            </a:r>
            <a:r>
              <a:rPr lang="es-ES" sz="300" b="1" dirty="0"/>
              <a:t>&gt;, &lt;base&gt;, &lt;</a:t>
            </a:r>
            <a:r>
              <a:rPr lang="es-ES" sz="300" b="1" dirty="0" err="1"/>
              <a:t>br</a:t>
            </a:r>
            <a:r>
              <a:rPr lang="es-ES" sz="300" b="1" dirty="0"/>
              <a:t>&gt;, &lt;col&gt;, &lt;</a:t>
            </a:r>
            <a:r>
              <a:rPr lang="es-ES" sz="300" b="1" dirty="0" err="1"/>
              <a:t>embed</a:t>
            </a:r>
            <a:r>
              <a:rPr lang="es-ES" sz="300" b="1" dirty="0"/>
              <a:t>&gt;, &lt;</a:t>
            </a:r>
            <a:r>
              <a:rPr lang="es-ES" sz="300" b="1" dirty="0" err="1"/>
              <a:t>hr</a:t>
            </a:r>
            <a:r>
              <a:rPr lang="es-ES" sz="300" b="1" dirty="0"/>
              <a:t>&gt;, &lt;</a:t>
            </a:r>
            <a:r>
              <a:rPr lang="es-ES" sz="300" b="1" dirty="0" err="1"/>
              <a:t>img</a:t>
            </a:r>
            <a:r>
              <a:rPr lang="es-ES" sz="300" b="1" dirty="0"/>
              <a:t>&gt;, &lt;input&gt;, &lt;link&gt;, &lt;meta&gt;, &lt;</a:t>
            </a:r>
            <a:r>
              <a:rPr lang="es-ES" sz="300" b="1" dirty="0" err="1"/>
              <a:t>param</a:t>
            </a:r>
            <a:r>
              <a:rPr lang="es-ES" sz="300" b="1" dirty="0"/>
              <a:t>&gt;, &lt;</a:t>
            </a:r>
            <a:r>
              <a:rPr lang="es-ES" sz="300" b="1" dirty="0" err="1"/>
              <a:t>source</a:t>
            </a:r>
            <a:r>
              <a:rPr lang="es-ES" sz="300" b="1" dirty="0"/>
              <a:t>&gt;, &lt;</a:t>
            </a:r>
            <a:r>
              <a:rPr lang="es-ES" sz="300" b="1" dirty="0" err="1"/>
              <a:t>track</a:t>
            </a:r>
            <a:r>
              <a:rPr lang="es-ES" sz="300" b="1" dirty="0"/>
              <a:t>&gt; y &lt;</a:t>
            </a:r>
            <a:r>
              <a:rPr lang="es-ES" sz="300" b="1" dirty="0" err="1"/>
              <a:t>wbr</a:t>
            </a:r>
            <a:r>
              <a:rPr lang="es-ES" sz="300" b="1" dirty="0"/>
              <a:t>&gt;.</a:t>
            </a:r>
          </a:p>
          <a:p>
            <a:pPr marL="88900" indent="-88900" algn="just">
              <a:lnSpc>
                <a:spcPct val="150000"/>
              </a:lnSpc>
              <a:buFont typeface="Wingdings" panose="05000000000000000000" pitchFamily="2" charset="2"/>
              <a:buChar char="ü"/>
              <a:tabLst>
                <a:tab pos="179388" algn="l"/>
              </a:tabLst>
            </a:pPr>
            <a:endParaRPr lang="es-ES" sz="300" b="1" dirty="0"/>
          </a:p>
          <a:p>
            <a:pPr marL="88900" indent="-88900" algn="just">
              <a:lnSpc>
                <a:spcPct val="150000"/>
              </a:lnSpc>
              <a:buFont typeface="Wingdings" panose="05000000000000000000" pitchFamily="2" charset="2"/>
              <a:buChar char="ü"/>
              <a:tabLst>
                <a:tab pos="179388" algn="l"/>
              </a:tabLst>
            </a:pPr>
            <a:r>
              <a:rPr lang="es-ES" sz="300" dirty="0"/>
              <a:t>Algunos elementos no pueden contener otros elementos (ej. &lt;a&gt; no puede contener &lt;a&gt;, &lt;</a:t>
            </a:r>
            <a:r>
              <a:rPr lang="es-ES" sz="300" dirty="0" err="1"/>
              <a:t>button</a:t>
            </a:r>
            <a:r>
              <a:rPr lang="es-ES" sz="300" dirty="0"/>
              <a:t>&gt; no puede contener otros botones o formularios, etc.).</a:t>
            </a:r>
          </a:p>
          <a:p>
            <a:pPr algn="just">
              <a:lnSpc>
                <a:spcPct val="150000"/>
              </a:lnSpc>
              <a:tabLst>
                <a:tab pos="179388" algn="l"/>
              </a:tabLst>
            </a:pPr>
            <a:endParaRPr lang="es-ES" sz="300" dirty="0"/>
          </a:p>
          <a:p>
            <a:pPr marL="88900" indent="-88900" algn="just">
              <a:lnSpc>
                <a:spcPct val="150000"/>
              </a:lnSpc>
              <a:buFont typeface="Wingdings" panose="05000000000000000000" pitchFamily="2" charset="2"/>
              <a:buChar char="ü"/>
              <a:tabLst>
                <a:tab pos="179388" algn="l"/>
              </a:tabLst>
            </a:pPr>
            <a:r>
              <a:rPr lang="es-ES" sz="300" dirty="0"/>
              <a:t>Los atributos sólo pueden aparecer en la etiqueta de apertura.</a:t>
            </a:r>
          </a:p>
        </p:txBody>
      </p:sp>
      <p:sp>
        <p:nvSpPr>
          <p:cNvPr id="3" name="3 CuadroTexto">
            <a:extLst>
              <a:ext uri="{FF2B5EF4-FFF2-40B4-BE49-F238E27FC236}">
                <a16:creationId xmlns:a16="http://schemas.microsoft.com/office/drawing/2014/main" id="{4116922A-3A8C-33E1-A2B9-18A1C26F3272}"/>
              </a:ext>
            </a:extLst>
          </p:cNvPr>
          <p:cNvSpPr txBox="1"/>
          <p:nvPr/>
        </p:nvSpPr>
        <p:spPr>
          <a:xfrm>
            <a:off x="0" y="-1594"/>
            <a:ext cx="1042988" cy="172098"/>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Reglas para trabajar en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3349388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E7558-A9C9-631B-174E-ED8C5B03AFDA}"/>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2C1C8253-3EF6-3527-EEFC-B282DED77F97}"/>
              </a:ext>
            </a:extLst>
          </p:cNvPr>
          <p:cNvSpPr txBox="1"/>
          <p:nvPr/>
        </p:nvSpPr>
        <p:spPr>
          <a:xfrm>
            <a:off x="0" y="117255"/>
            <a:ext cx="1227138" cy="633379"/>
          </a:xfrm>
          <a:prstGeom prst="rect">
            <a:avLst/>
          </a:prstGeom>
          <a:noFill/>
        </p:spPr>
        <p:txBody>
          <a:bodyPr wrap="square">
            <a:spAutoFit/>
          </a:bodyPr>
          <a:lstStyle/>
          <a:p>
            <a:pPr marL="88900" indent="-88900">
              <a:lnSpc>
                <a:spcPct val="200000"/>
              </a:lnSpc>
              <a:buFont typeface="Wingdings" panose="05000000000000000000" pitchFamily="2" charset="2"/>
              <a:buChar char="ü"/>
            </a:pPr>
            <a:r>
              <a:rPr lang="es-ES" sz="300" dirty="0"/>
              <a:t>Un atributo sólo puede aparecer una vez en cada etiqueta de apertura.</a:t>
            </a:r>
          </a:p>
          <a:p>
            <a:pPr marL="88900" indent="-88900">
              <a:lnSpc>
                <a:spcPct val="200000"/>
              </a:lnSpc>
              <a:buFont typeface="Wingdings" panose="05000000000000000000" pitchFamily="2" charset="2"/>
              <a:buChar char="ü"/>
            </a:pPr>
            <a:r>
              <a:rPr lang="es-ES" sz="300" dirty="0"/>
              <a:t>Los valores de los atributos se suelen escribir entre comillas, aunque no es necesario si el valor no contiene espacios.</a:t>
            </a:r>
          </a:p>
          <a:p>
            <a:pPr marL="88900" indent="-88900" algn="just">
              <a:lnSpc>
                <a:spcPct val="200000"/>
              </a:lnSpc>
              <a:buFont typeface="Wingdings" panose="05000000000000000000" pitchFamily="2" charset="2"/>
              <a:buChar char="ü"/>
            </a:pPr>
            <a:r>
              <a:rPr lang="es-ES" sz="300" dirty="0"/>
              <a:t>El valor de un atributo id no se puede repetir en un documento.</a:t>
            </a:r>
          </a:p>
        </p:txBody>
      </p:sp>
      <p:sp>
        <p:nvSpPr>
          <p:cNvPr id="8" name="3 CuadroTexto">
            <a:extLst>
              <a:ext uri="{FF2B5EF4-FFF2-40B4-BE49-F238E27FC236}">
                <a16:creationId xmlns:a16="http://schemas.microsoft.com/office/drawing/2014/main" id="{A3750827-5C3C-5B0D-20F5-D813DAD29473}"/>
              </a:ext>
            </a:extLst>
          </p:cNvPr>
          <p:cNvSpPr txBox="1"/>
          <p:nvPr/>
        </p:nvSpPr>
        <p:spPr>
          <a:xfrm>
            <a:off x="0" y="-1594"/>
            <a:ext cx="1042988" cy="172098"/>
          </a:xfrm>
          <a:prstGeom prst="rect">
            <a:avLst/>
          </a:prstGeom>
          <a:noFill/>
        </p:spPr>
        <p:txBody>
          <a:bodyPr wrap="square" rtlCol="0">
            <a:spAutoFit/>
          </a:bodyPr>
          <a:lstStyle/>
          <a:p>
            <a:pPr algn="ctr">
              <a:lnSpc>
                <a:spcPct val="150000"/>
              </a:lnSpc>
            </a:pPr>
            <a:r>
              <a:rPr lang="es-ES"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rPr>
              <a:t>Reglas para trabajar en HTML</a:t>
            </a:r>
            <a:endParaRPr lang="es-VE" sz="400" dirty="0">
              <a:solidFill>
                <a:srgbClr val="0070C0"/>
              </a:solidFill>
              <a:effectLst>
                <a:outerShdw blurRad="50800" dist="38100" dir="2700000" algn="tl" rotWithShape="0">
                  <a:prstClr val="black">
                    <a:alpha val="40000"/>
                  </a:prstClr>
                </a:outerShdw>
              </a:effectLst>
              <a:latin typeface="Bahnschrift" panose="020B0502040204020203" pitchFamily="34"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90030272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6303</TotalTime>
  <Words>1809</Words>
  <Application>Microsoft Office PowerPoint</Application>
  <PresentationFormat>Personalizado</PresentationFormat>
  <Paragraphs>111</Paragraphs>
  <Slides>30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30</vt:i4>
      </vt:variant>
    </vt:vector>
  </HeadingPairs>
  <TitlesOfParts>
    <vt:vector size="36" baseType="lpstr">
      <vt:lpstr>Arial</vt:lpstr>
      <vt:lpstr>Bahnschrift</vt:lpstr>
      <vt:lpstr>Calibri</vt:lpstr>
      <vt:lpstr>Calibri Light</vt:lpstr>
      <vt:lpstr>Wingdings</vt:lpstr>
      <vt:lpstr>Tema de Office</vt:lpstr>
      <vt:lpstr>   HTML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Ingenie-9</dc:creator>
  <cp:lastModifiedBy>Ideapad</cp:lastModifiedBy>
  <cp:revision>191</cp:revision>
  <cp:lastPrinted>2026-05-19T14:44:36Z</cp:lastPrinted>
  <dcterms:created xsi:type="dcterms:W3CDTF">2019-07-25T15:02:19Z</dcterms:created>
  <dcterms:modified xsi:type="dcterms:W3CDTF">2026-08-13T03:49:49Z</dcterms:modified>
</cp:coreProperties>
</file>